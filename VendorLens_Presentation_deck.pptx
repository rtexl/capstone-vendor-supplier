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3A"/>
          </a:solidFill>
          <a:ln>
            <a:solidFill>
              <a:srgbClr val="0D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D25"/>
          </a:solidFill>
          <a:ln>
            <a:solidFill>
              <a:srgbClr val="E86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73568" y="146304"/>
            <a:ext cx="4218127" cy="6327648"/>
          </a:xfrm>
          <a:prstGeom prst="rect">
            <a:avLst/>
          </a:prstGeom>
          <a:solidFill>
            <a:srgbClr val="163352"/>
          </a:solidFill>
          <a:ln>
            <a:solidFill>
              <a:srgbClr val="16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960120"/>
            <a:ext cx="6629400" cy="6583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VendorLens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74519"/>
            <a:ext cx="6766560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DAE8F6"/>
                </a:solidFill>
                <a:latin typeface="Aptos Display"/>
              </a:rPr>
              <a:t>From supplier evidence to an
auditable vendor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64922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86D25"/>
                </a:solidFill>
                <a:latin typeface="Aptos"/>
              </a:rPr>
              <a:t>AI-assisted • policy-driven • human-approved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431536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DC6DF"/>
                </a:solidFill>
                <a:latin typeface="Aptos"/>
              </a:rPr>
              <a:t>As-built capstone presentation  |  October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22208" y="960120"/>
            <a:ext cx="2743200" cy="749808"/>
          </a:xfrm>
          <a:prstGeom prst="roundRect">
            <a:avLst>
              <a:gd name="adj" fmla="val 10000"/>
            </a:avLst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23376" y="1106424"/>
            <a:ext cx="1051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1124712"/>
            <a:ext cx="12984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staged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22208" y="2167128"/>
            <a:ext cx="2743200" cy="749808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23376" y="2313432"/>
            <a:ext cx="1051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331720"/>
            <a:ext cx="12984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RAG +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22208" y="3374136"/>
            <a:ext cx="2743200" cy="749808"/>
          </a:xfrm>
          <a:prstGeom prst="roundRect">
            <a:avLst>
              <a:gd name="adj" fmla="val 10000"/>
            </a:avLst>
          </a:prstGeom>
          <a:solidFill>
            <a:srgbClr val="6D4CB5"/>
          </a:solidFill>
          <a:ln>
            <a:solidFill>
              <a:srgbClr val="6D4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3520440"/>
            <a:ext cx="1051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3538728"/>
            <a:ext cx="12984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human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22208" y="4581144"/>
            <a:ext cx="2743200" cy="749808"/>
          </a:xfrm>
          <a:prstGeom prst="roundRect">
            <a:avLst>
              <a:gd name="adj" fmla="val 10000"/>
            </a:avLst>
          </a:prstGeom>
          <a:solidFill>
            <a:srgbClr val="E86D25"/>
          </a:solidFill>
          <a:ln>
            <a:solidFill>
              <a:srgbClr val="E86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3376" y="4727448"/>
            <a:ext cx="1051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CREATE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745736"/>
            <a:ext cx="129844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Vendor Master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D223A"/>
          </a:solidFill>
          <a:ln>
            <a:solidFill>
              <a:srgbClr val="0D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655624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VendorLens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6556248"/>
            <a:ext cx="466344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AFC6DD"/>
                </a:solidFill>
                <a:latin typeface="Aptos"/>
              </a:rPr>
              <a:t>Introduction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47104"/>
            <a:ext cx="5943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8EBFE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3832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63BF"/>
                </a:solidFill>
                <a:latin typeface="Aptos"/>
              </a:rPr>
              <a:t>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23A"/>
                </a:solidFill>
                <a:latin typeface="Aptos Display"/>
              </a:rPr>
              <a:t>Why supplier onboarding needs a different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AI is useful where the work is repetitive and evidence-heavy—not where accountability is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D223A"/>
          </a:solidFill>
          <a:ln>
            <a:solidFill>
              <a:srgbClr val="0D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5624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VendorLens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56248"/>
            <a:ext cx="466344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AFC6DD"/>
                </a:solidFill>
                <a:latin typeface="Aptos"/>
              </a:rPr>
              <a:t>Problem • cost of status quo • why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5943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8EBFEF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74519"/>
            <a:ext cx="3246120" cy="4041648"/>
          </a:xfrm>
          <a:prstGeom prst="roundRect">
            <a:avLst>
              <a:gd name="adj" fmla="val 10000"/>
            </a:avLst>
          </a:prstGeom>
          <a:solidFill>
            <a:srgbClr val="FFF6ED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39696"/>
            <a:ext cx="26517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E3A43"/>
                </a:solidFill>
                <a:latin typeface="Apto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2697480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D223A"/>
                </a:solidFill>
                <a:latin typeface="Aptos Display"/>
              </a:rPr>
              <a:t>Fragmented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2697480" cy="2240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B2A3A"/>
                </a:solidFill>
                <a:latin typeface="Aptos"/>
              </a:defRPr>
            </a:pPr>
            <a:r>
              <a:t>•  Registration, tax, bank, insurance and policy evidence arrive through separate channels.</a:t>
            </a:r>
          </a:p>
          <a:p>
            <a:pPr>
              <a:spcAft>
                <a:spcPts val="1000"/>
              </a:spcAft>
              <a:defRPr sz="1200">
                <a:solidFill>
                  <a:srgbClr val="1B2A3A"/>
                </a:solidFill>
                <a:latin typeface="Aptos"/>
              </a:defRPr>
            </a:pPr>
            <a:r>
              <a:t>•  Reviewers repeatedly search, transcribe and reconcile the same facts.</a:t>
            </a:r>
          </a:p>
          <a:p>
            <a:pPr>
              <a:spcAft>
                <a:spcPts val="1000"/>
              </a:spcAft>
              <a:defRPr sz="1200">
                <a:solidFill>
                  <a:srgbClr val="1B2A3A"/>
                </a:solidFill>
                <a:latin typeface="Aptos"/>
              </a:defRPr>
            </a:pPr>
            <a:r>
              <a:t>•  Decisions are difficult to reproduce when source evidence is not linked.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33087" y="1874519"/>
            <a:ext cx="3246120" cy="4041648"/>
          </a:xfrm>
          <a:prstGeom prst="roundRect">
            <a:avLst>
              <a:gd name="adj" fmla="val 10000"/>
            </a:avLst>
          </a:prstGeom>
          <a:solidFill>
            <a:srgbClr val="FFFAF1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139696"/>
            <a:ext cx="26517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6D25"/>
                </a:solidFill>
                <a:latin typeface="Aptos"/>
              </a:rPr>
              <a:t>COST OF STATUS QUO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87168"/>
            <a:ext cx="2697480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D223A"/>
                </a:solidFill>
                <a:latin typeface="Aptos Display"/>
              </a:rPr>
              <a:t>Delay, rework and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46120"/>
            <a:ext cx="2697480" cy="2240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B2A3A"/>
                </a:solidFill>
                <a:latin typeface="Aptos"/>
              </a:defRPr>
            </a:pPr>
            <a:r>
              <a:t>•  Longer onboarding cycles delay supplier readiness and procurement activity.</a:t>
            </a:r>
          </a:p>
          <a:p>
            <a:pPr>
              <a:spcAft>
                <a:spcPts val="1000"/>
              </a:spcAft>
              <a:defRPr sz="1200">
                <a:solidFill>
                  <a:srgbClr val="1B2A3A"/>
                </a:solidFill>
                <a:latin typeface="Aptos"/>
              </a:defRPr>
            </a:pPr>
            <a:r>
              <a:t>•  Wrong or incomplete files create avoidable back-and-forth.</a:t>
            </a:r>
          </a:p>
          <a:p>
            <a:pPr>
              <a:spcAft>
                <a:spcPts val="1000"/>
              </a:spcAft>
              <a:defRPr sz="1200">
                <a:solidFill>
                  <a:srgbClr val="1B2A3A"/>
                </a:solidFill>
                <a:latin typeface="Aptos"/>
              </a:defRPr>
            </a:pPr>
            <a:r>
              <a:t>•  Manual judgement varies; unsupported approvals and privacy leakage become harder to detect.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1874519"/>
            <a:ext cx="3246120" cy="4041648"/>
          </a:xfrm>
          <a:prstGeom prst="roundRect">
            <a:avLst>
              <a:gd name="adj" fmla="val 10000"/>
            </a:avLst>
          </a:prstGeom>
          <a:solidFill>
            <a:srgbClr val="EBF4FD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139696"/>
            <a:ext cx="26517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F63BF"/>
                </a:solidFill>
                <a:latin typeface="Aptos"/>
              </a:rPr>
              <a:t>WHY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487168"/>
            <a:ext cx="2697480" cy="51206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D223A"/>
                </a:solidFill>
                <a:latin typeface="Aptos Display"/>
              </a:rPr>
              <a:t>Assist the reviewer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246120"/>
            <a:ext cx="2697480" cy="2240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B2A3A"/>
                </a:solidFill>
                <a:latin typeface="Aptos"/>
              </a:defRPr>
            </a:pPr>
            <a:r>
              <a:t>•  OCR and extraction turn unstructured evidence into reviewable fields.</a:t>
            </a:r>
          </a:p>
          <a:p>
            <a:pPr>
              <a:spcAft>
                <a:spcPts val="1000"/>
              </a:spcAft>
              <a:defRPr sz="1200">
                <a:solidFill>
                  <a:srgbClr val="1B2A3A"/>
                </a:solidFill>
                <a:latin typeface="Aptos"/>
              </a:defRPr>
            </a:pPr>
            <a:r>
              <a:t>•  RAG finds relevant passages and returns source-linked answers.</a:t>
            </a:r>
          </a:p>
          <a:p>
            <a:pPr>
              <a:spcAft>
                <a:spcPts val="1000"/>
              </a:spcAft>
              <a:defRPr sz="1200">
                <a:solidFill>
                  <a:srgbClr val="1B2A3A"/>
                </a:solidFill>
                <a:latin typeface="Aptos"/>
              </a:defRPr>
            </a:pPr>
            <a:r>
              <a:t>•  AI drafts; deterministic gates and the human reviewer make the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3832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63BF"/>
                </a:solidFill>
                <a:latin typeface="Aptos"/>
              </a:rPr>
              <a:t>ARCHITECTURE 1/3 •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23A"/>
                </a:solidFill>
                <a:latin typeface="Aptos Display"/>
              </a:rPr>
              <a:t>A gated path from upload to Vendor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Each boundary has a clear owner, failure mode and audit record.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D223A"/>
          </a:solidFill>
          <a:ln>
            <a:solidFill>
              <a:srgbClr val="0D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5624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VendorLens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56248"/>
            <a:ext cx="466344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AFC6DD"/>
                </a:solidFill>
                <a:latin typeface="Aptos"/>
              </a:rPr>
              <a:t>Application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5943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8EBFEF"/>
                </a:solidFill>
                <a:latin typeface="Apto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11680"/>
            <a:ext cx="1993392" cy="1261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167128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768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76272"/>
            <a:ext cx="1152144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23A"/>
                </a:solidFill>
                <a:latin typeface="Aptos"/>
              </a:rPr>
              <a:t>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505456"/>
            <a:ext cx="1152144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Category, supplier details and dynamic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2368296"/>
            <a:ext cx="256032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5B6C7E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011680"/>
            <a:ext cx="1993392" cy="1261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26664" y="2167128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26664" y="22768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1" y="2176272"/>
            <a:ext cx="1152144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23A"/>
                </a:solidFill>
                <a:latin typeface="Aptos"/>
              </a:rP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1" y="2505456"/>
            <a:ext cx="1152144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Stage file • OCR • type, field and identity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2368296"/>
            <a:ext cx="256032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5B6C7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2011680"/>
            <a:ext cx="1993392" cy="1261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40096" y="2167128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6D4CB5"/>
          </a:solidFill>
          <a:ln>
            <a:solidFill>
              <a:srgbClr val="6D4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0096" y="22768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7024" y="2176272"/>
            <a:ext cx="1152144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23A"/>
                </a:solidFill>
                <a:latin typeface="Aptos"/>
              </a:rPr>
              <a:t>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7024" y="2505456"/>
            <a:ext cx="1152144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Redact • extract • embed • evaluate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368296"/>
            <a:ext cx="256032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5B6C7E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07223" y="2011680"/>
            <a:ext cx="1993392" cy="1261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53527" y="2167128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E86D25"/>
          </a:solidFill>
          <a:ln>
            <a:solidFill>
              <a:srgbClr val="E86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53527" y="22768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5" y="2176272"/>
            <a:ext cx="1152144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23A"/>
                </a:solidFill>
                <a:latin typeface="Aptos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5" y="2505456"/>
            <a:ext cx="1152144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Compare originals • correct • confirm or flag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7192" y="2368296"/>
            <a:ext cx="256032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5B6C7E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20655" y="2011680"/>
            <a:ext cx="1993392" cy="12618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66959" y="2167128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1F8954"/>
          </a:solidFill>
          <a:ln>
            <a:solidFill>
              <a:srgbClr val="1F8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59" y="22768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33887" y="2176272"/>
            <a:ext cx="1152144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223A"/>
                </a:solidFill>
                <a:latin typeface="Aptos"/>
              </a:rPr>
              <a:t>Create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33887" y="2505456"/>
            <a:ext cx="1152144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Approve • ERP record • 10-digit Vendor 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3547872"/>
            <a:ext cx="10771632" cy="91440"/>
          </a:xfrm>
          <a:prstGeom prst="rect">
            <a:avLst/>
          </a:prstGeom>
          <a:solidFill>
            <a:srgbClr val="D3DEE9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3858768"/>
            <a:ext cx="192024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223A"/>
                </a:solidFill>
                <a:latin typeface="Aptos"/>
              </a:rPr>
              <a:t>Key control points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315968"/>
            <a:ext cx="2971800" cy="1261872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1520" y="4315968"/>
            <a:ext cx="82296" cy="1261872"/>
          </a:xfrm>
          <a:prstGeom prst="roundRect">
            <a:avLst>
              <a:gd name="adj" fmla="val 10000"/>
            </a:avLst>
          </a:prstGeom>
          <a:solidFill>
            <a:srgbClr val="BE3A43"/>
          </a:solidFill>
          <a:ln>
            <a:solidFill>
              <a:srgbClr val="BE3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4517136"/>
            <a:ext cx="25603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BE3A43"/>
                </a:solidFill>
                <a:latin typeface="Aptos"/>
              </a:rPr>
              <a:t>Rejected uploads never become evidence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4956048"/>
            <a:ext cx="2514600" cy="45719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B6C7E"/>
                </a:solidFill>
                <a:latin typeface="Aptos"/>
              </a:rPr>
              <a:t>Unreadable, wrong-type, incomplete, mismatched or poor OCR files are removed.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05072" y="4315968"/>
            <a:ext cx="2971800" cy="1261872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005072" y="4315968"/>
            <a:ext cx="82296" cy="1261872"/>
          </a:xfrm>
          <a:prstGeom prst="roundRect">
            <a:avLst>
              <a:gd name="adj" fmla="val 10000"/>
            </a:avLst>
          </a:prstGeom>
          <a:solidFill>
            <a:srgbClr val="E86D25"/>
          </a:solidFill>
          <a:ln>
            <a:solidFill>
              <a:srgbClr val="E86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33672" y="4517136"/>
            <a:ext cx="25603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86D25"/>
                </a:solidFill>
                <a:latin typeface="Aptos"/>
              </a:rPr>
              <a:t>Manual-attention items stay visible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3672" y="4956048"/>
            <a:ext cx="2514600" cy="45719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B6C7E"/>
                </a:solidFill>
                <a:latin typeface="Aptos"/>
              </a:rPr>
              <a:t>Uncertain OCR values are previewed read-only and excluded from safe bulk confirmation.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78624" y="4315968"/>
            <a:ext cx="2971800" cy="1261872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278624" y="4315968"/>
            <a:ext cx="82296" cy="1261872"/>
          </a:xfrm>
          <a:prstGeom prst="roundRect">
            <a:avLst>
              <a:gd name="adj" fmla="val 10000"/>
            </a:avLst>
          </a:prstGeom>
          <a:solidFill>
            <a:srgbClr val="1F8954"/>
          </a:solidFill>
          <a:ln>
            <a:solidFill>
              <a:srgbClr val="1F8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07224" y="4517136"/>
            <a:ext cx="25603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8954"/>
                </a:solidFill>
                <a:latin typeface="Aptos"/>
              </a:rPr>
              <a:t>Approval requires explicit action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07224" y="4956048"/>
            <a:ext cx="2514600" cy="457199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B6C7E"/>
                </a:solidFill>
                <a:latin typeface="Aptos"/>
              </a:rPr>
              <a:t>All persisted compliance results must pass before ERP creation and case finalization.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3832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63BF"/>
                </a:solidFill>
                <a:latin typeface="Aptos"/>
              </a:rPr>
              <a:t>ARCHITECTURE 2/3 •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23A"/>
                </a:solidFill>
                <a:latin typeface="Aptos Display"/>
              </a:rPr>
              <a:t>A bounded full-stack system with explicit data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PostgreSQL is authoritative; vectors and files support evidence processing; ERP remains a separate boundary.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D223A"/>
          </a:solidFill>
          <a:ln>
            <a:solidFill>
              <a:srgbClr val="0D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5624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VendorLens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56248"/>
            <a:ext cx="466344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AFC6DD"/>
                </a:solidFill>
                <a:latin typeface="Aptos"/>
              </a:rPr>
              <a:t>Full-stack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5943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8EBFEF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38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C7E"/>
                </a:solidFill>
                <a:latin typeface="Aptos"/>
              </a:rPr>
              <a:t>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1810512"/>
            <a:ext cx="2560320" cy="749808"/>
          </a:xfrm>
          <a:prstGeom prst="roundRect">
            <a:avLst>
              <a:gd name="adj" fmla="val 10000"/>
            </a:avLst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1956816"/>
            <a:ext cx="25603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Supplier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249424"/>
            <a:ext cx="237744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details • uploads • OCR preview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2" y="1810512"/>
            <a:ext cx="2560320" cy="749808"/>
          </a:xfrm>
          <a:prstGeom prst="roundRect">
            <a:avLst>
              <a:gd name="adj" fmla="val 10000"/>
            </a:avLst>
          </a:prstGeom>
          <a:solidFill>
            <a:srgbClr val="6D4CB5"/>
          </a:solidFill>
          <a:ln>
            <a:solidFill>
              <a:srgbClr val="6D4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1956816"/>
            <a:ext cx="25603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Reviewer workbench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249424"/>
            <a:ext cx="237744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evidence • checks • 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1810512"/>
            <a:ext cx="2560320" cy="749808"/>
          </a:xfrm>
          <a:prstGeom prst="roundRect">
            <a:avLst>
              <a:gd name="adj" fmla="val 10000"/>
            </a:avLst>
          </a:prstGeom>
          <a:solidFill>
            <a:srgbClr val="E86D25"/>
          </a:solidFill>
          <a:ln>
            <a:solidFill>
              <a:srgbClr val="E86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98664" y="1956816"/>
            <a:ext cx="25603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Admin + Vendor 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2249424"/>
            <a:ext cx="237744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operations • ERP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8"/>
            <a:ext cx="11430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C7E"/>
                </a:solidFill>
                <a:latin typeface="Aptos"/>
              </a:rPr>
              <a:t>API + DOMAIN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00200" y="2898648"/>
            <a:ext cx="8558784" cy="859536"/>
          </a:xfrm>
          <a:prstGeom prst="roundRect">
            <a:avLst>
              <a:gd name="adj" fmla="val 10000"/>
            </a:avLst>
          </a:prstGeom>
          <a:solidFill>
            <a:srgbClr val="0D223A"/>
          </a:solidFill>
          <a:ln>
            <a:solidFill>
              <a:srgbClr val="0D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3127248"/>
            <a:ext cx="105156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136392"/>
            <a:ext cx="68122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DAE8F6"/>
                </a:solidFill>
                <a:latin typeface="Aptos"/>
              </a:rPr>
              <a:t>auth • staged ingestion • AI orchestration • compliance • audit • ERP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43400"/>
            <a:ext cx="12344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C7E"/>
                </a:solidFill>
                <a:latin typeface="Aptos"/>
              </a:rPr>
              <a:t>DATA + 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00200" y="4151376"/>
            <a:ext cx="1737360" cy="859536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325112"/>
            <a:ext cx="1737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F63BF"/>
                </a:solidFill>
                <a:latin typeface="Aptos"/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55064" y="4645152"/>
            <a:ext cx="162763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C7E"/>
                </a:solidFill>
                <a:latin typeface="Aptos"/>
              </a:rPr>
              <a:t>workflow + audit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67328" y="4151376"/>
            <a:ext cx="1737360" cy="859536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4325112"/>
            <a:ext cx="1737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D9488"/>
                </a:solidFill>
                <a:latin typeface="Aptos"/>
              </a:rPr>
              <a:t>Upload volume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2191" y="4645152"/>
            <a:ext cx="162763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C7E"/>
                </a:solidFill>
                <a:latin typeface="Aptos"/>
              </a:rPr>
              <a:t>original evidence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34456" y="4151376"/>
            <a:ext cx="1737360" cy="859536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>
            <a:solidFill>
              <a:srgbClr val="6D4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34456" y="4325112"/>
            <a:ext cx="1737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D4CB5"/>
                </a:solidFill>
                <a:latin typeface="Aptos"/>
              </a:rPr>
              <a:t>ChromaDB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645152"/>
            <a:ext cx="162763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C7E"/>
                </a:solidFill>
                <a:latin typeface="Aptos"/>
              </a:rPr>
              <a:t>redacted vectors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4151376"/>
            <a:ext cx="1737360" cy="859536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>
            <a:solidFill>
              <a:srgbClr val="E86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01583" y="4325112"/>
            <a:ext cx="1737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86D25"/>
                </a:solidFill>
                <a:latin typeface="Aptos"/>
              </a:rPr>
              <a:t>AI provider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4645152"/>
            <a:ext cx="162763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C7E"/>
                </a:solidFill>
                <a:latin typeface="Aptos"/>
              </a:rPr>
              <a:t>OpenRouter / Azure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68712" y="4151376"/>
            <a:ext cx="1737360" cy="859536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>
            <a:solidFill>
              <a:srgbClr val="1F8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8712" y="4325112"/>
            <a:ext cx="1737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F8954"/>
                </a:solidFill>
                <a:latin typeface="Aptos"/>
              </a:rPr>
              <a:t>Mock ERP MCP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23576" y="4645152"/>
            <a:ext cx="1627632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C7E"/>
                </a:solidFill>
                <a:latin typeface="Aptos"/>
              </a:rPr>
              <a:t>Vendor Master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00200" y="5413248"/>
            <a:ext cx="10405872" cy="530352"/>
          </a:xfrm>
          <a:prstGeom prst="roundRect">
            <a:avLst>
              <a:gd name="adj" fmla="val 10000"/>
            </a:avLst>
          </a:prstGeom>
          <a:solidFill>
            <a:srgbClr val="EBF4FD"/>
          </a:solidFill>
          <a:ln>
            <a:solidFill>
              <a:srgbClr val="BCD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10512" y="5577840"/>
            <a:ext cx="998524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F63BF"/>
                </a:solidFill>
                <a:latin typeface="Aptos"/>
              </a:rPr>
              <a:t>Cross-cutting: role authorization • PII redaction • integrity checks • Langfuse traces • Prometheus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3832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63BF"/>
                </a:solidFill>
                <a:latin typeface="Aptos"/>
              </a:rPr>
              <a:t>ARCHITECTURE 3/3 •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23A"/>
                </a:solidFill>
                <a:latin typeface="Aptos Display"/>
              </a:rPr>
              <a:t>Grounded answers without surrendering the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Document RAG answers case questions; policy grounding assists review and correction messaging.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D223A"/>
          </a:solidFill>
          <a:ln>
            <a:solidFill>
              <a:srgbClr val="0D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5624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VendorLens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56248"/>
            <a:ext cx="466344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AFC6DD"/>
                </a:solidFill>
                <a:latin typeface="Aptos"/>
              </a:rPr>
              <a:t>RAG + human-in-the-loop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5943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8EBFEF"/>
                </a:solidFill>
                <a:latin typeface="Aptos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20240"/>
            <a:ext cx="1975104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" y="2084831"/>
            <a:ext cx="393192" cy="393192"/>
          </a:xfrm>
          <a:prstGeom prst="roundRect">
            <a:avLst>
              <a:gd name="adj" fmla="val 10000"/>
            </a:avLst>
          </a:prstGeom>
          <a:solidFill>
            <a:srgbClr val="BE3A43"/>
          </a:solidFill>
          <a:ln>
            <a:solidFill>
              <a:srgbClr val="BE3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185416"/>
            <a:ext cx="393192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2103120"/>
            <a:ext cx="111556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E3A43"/>
                </a:solidFill>
                <a:latin typeface="Aptos"/>
              </a:rPr>
              <a:t>Redact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688336"/>
            <a:ext cx="1609344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7E"/>
                </a:solidFill>
                <a:latin typeface="Aptos"/>
              </a:rPr>
              <a:t>GSTIN, PAN, CIN, email, phone and bank values become typed placeholders.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1920240"/>
            <a:ext cx="1975104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44368" y="2084831"/>
            <a:ext cx="393192" cy="393192"/>
          </a:xfrm>
          <a:prstGeom prst="roundRect">
            <a:avLst>
              <a:gd name="adj" fmla="val 10000"/>
            </a:avLst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2185416"/>
            <a:ext cx="393192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7" y="2103120"/>
            <a:ext cx="111556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63BF"/>
                </a:solidFill>
                <a:latin typeface="Aptos"/>
              </a:rPr>
              <a:t>Chunk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688336"/>
            <a:ext cx="1609344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7E"/>
                </a:solidFill>
                <a:latin typeface="Aptos"/>
              </a:rPr>
              <a:t>Page-local 500-token chunks with 75-token overlap preserve citations.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0912" y="1920240"/>
            <a:ext cx="1975104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66360" y="2084831"/>
            <a:ext cx="393192" cy="393192"/>
          </a:xfrm>
          <a:prstGeom prst="roundRect">
            <a:avLst>
              <a:gd name="adj" fmla="val 10000"/>
            </a:avLst>
          </a:prstGeom>
          <a:solidFill>
            <a:srgbClr val="6D4CB5"/>
          </a:solidFill>
          <a:ln>
            <a:solidFill>
              <a:srgbClr val="6D4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2185416"/>
            <a:ext cx="393192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103120"/>
            <a:ext cx="111556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6D4CB5"/>
                </a:solidFill>
                <a:latin typeface="Aptos"/>
              </a:rPr>
              <a:t>Retrieve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2688336"/>
            <a:ext cx="1609344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7E"/>
                </a:solidFill>
                <a:latin typeface="Aptos"/>
              </a:rPr>
              <a:t>Embed the question; filter by supplier before top-K similarity ranking.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32904" y="1920240"/>
            <a:ext cx="1975104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88352" y="2084831"/>
            <a:ext cx="393192" cy="393192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185416"/>
            <a:ext cx="393192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2103120"/>
            <a:ext cx="111556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Aptos"/>
              </a:rPr>
              <a:t>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783" y="2688336"/>
            <a:ext cx="1609344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7E"/>
                </a:solidFill>
                <a:latin typeface="Aptos"/>
              </a:rPr>
              <a:t>Answer only from retrieved evidence and return exact supporting chunk labels.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54896" y="1920240"/>
            <a:ext cx="1975104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10344" y="2084831"/>
            <a:ext cx="393192" cy="393192"/>
          </a:xfrm>
          <a:prstGeom prst="roundRect">
            <a:avLst>
              <a:gd name="adj" fmla="val 10000"/>
            </a:avLst>
          </a:prstGeom>
          <a:solidFill>
            <a:srgbClr val="1F8954"/>
          </a:solidFill>
          <a:ln>
            <a:solidFill>
              <a:srgbClr val="1F8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0344" y="2185416"/>
            <a:ext cx="393192" cy="137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13264" y="2103120"/>
            <a:ext cx="1115568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8954"/>
                </a:solidFill>
                <a:latin typeface="Aptos"/>
              </a:rPr>
              <a:t>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2688336"/>
            <a:ext cx="1609344" cy="8503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7E"/>
                </a:solidFill>
                <a:latin typeface="Aptos"/>
              </a:rPr>
              <a:t>Validate citations or return the guarded not-found response.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315968"/>
            <a:ext cx="5349240" cy="1234440"/>
          </a:xfrm>
          <a:prstGeom prst="roundRect">
            <a:avLst>
              <a:gd name="adj" fmla="val 10000"/>
            </a:avLst>
          </a:prstGeom>
          <a:solidFill>
            <a:srgbClr val="EAF9F6"/>
          </a:solidFill>
          <a:ln>
            <a:solidFill>
              <a:srgbClr val="A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553712"/>
            <a:ext cx="47091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Aptos"/>
              </a:rPr>
              <a:t>Document RAG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965192"/>
            <a:ext cx="4709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B2A3A"/>
                </a:solidFill>
                <a:latin typeface="Aptos"/>
              </a:rPr>
              <a:t>Reviewer questions → supplier-filtered evidence → cited answer / exact not-found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4315968"/>
            <a:ext cx="5303520" cy="1234440"/>
          </a:xfrm>
          <a:prstGeom prst="roundRect">
            <a:avLst>
              <a:gd name="adj" fmla="val 10000"/>
            </a:avLst>
          </a:prstGeom>
          <a:solidFill>
            <a:srgbClr val="FFF6ED"/>
          </a:solidFill>
          <a:ln>
            <a:solidFill>
              <a:srgbClr val="EFC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553712"/>
            <a:ext cx="4617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86D25"/>
                </a:solidFill>
                <a:latin typeface="Aptos"/>
              </a:rPr>
              <a:t>Policy + review grounding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965192"/>
            <a:ext cx="46177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1B2A3A"/>
                </a:solidFill>
                <a:latin typeface="Aptos"/>
              </a:rPr>
              <a:t>Policy checks and AI draft reasons remain editable; bulk confirmation excludes manual-attention items.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806440"/>
            <a:ext cx="1019556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0D223A"/>
                </a:solidFill>
                <a:latin typeface="Aptos"/>
              </a:rPr>
              <a:t>AI proposes evidence-backed output  →  deterministic gates expose gaps  →  reviewer confirms the outcome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3832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63BF"/>
                </a:solidFill>
                <a:latin typeface="Apto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23A"/>
                </a:solidFill>
                <a:latin typeface="Aptos Display"/>
              </a:rPr>
              <a:t>Show one complete supplier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The demo should emphasize visible controls and recovery paths—not only the happy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D223A"/>
          </a:solidFill>
          <a:ln>
            <a:solidFill>
              <a:srgbClr val="0D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5624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VendorLens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56248"/>
            <a:ext cx="466344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AFC6DD"/>
                </a:solidFill>
                <a:latin typeface="Aptos"/>
              </a:rPr>
              <a:t>Live product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5943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8EBFEF"/>
                </a:solidFill>
                <a:latin typeface="Aptos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01952"/>
            <a:ext cx="3182112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103120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31136"/>
            <a:ext cx="475488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2121408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23A"/>
                </a:solidFill>
                <a:latin typeface="Aptos"/>
              </a:rPr>
              <a:t>Register + 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2514600"/>
            <a:ext cx="2029968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C7E"/>
                </a:solidFill>
                <a:latin typeface="Aptos"/>
              </a:rPr>
              <a:t>Create the supplier, select the category and show the generated checklist.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01952"/>
            <a:ext cx="3182112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2103120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231136"/>
            <a:ext cx="475488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2121408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23A"/>
                </a:solidFill>
                <a:latin typeface="Aptos"/>
              </a:rPr>
              <a:t>Upload +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2514600"/>
            <a:ext cx="2029968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C7E"/>
                </a:solidFill>
                <a:latin typeface="Aptos"/>
              </a:rPr>
              <a:t>Show a rejection, then a valid scan with OCR reliability and read-only values.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901952"/>
            <a:ext cx="3182112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18119" y="2103120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6D4CB5"/>
          </a:solidFill>
          <a:ln>
            <a:solidFill>
              <a:srgbClr val="6D4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2231136"/>
            <a:ext cx="475488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2121408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23A"/>
                </a:solidFill>
                <a:latin typeface="Aptos"/>
              </a:rPr>
              <a:t>Submit + 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2514600"/>
            <a:ext cx="2029968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C7E"/>
                </a:solidFill>
                <a:latin typeface="Aptos"/>
              </a:rPr>
              <a:t>Snapshot requirements; watch PROCESSING move to reviewer attention.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822191"/>
            <a:ext cx="3182112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4023359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E86D25"/>
          </a:solidFill>
          <a:ln>
            <a:solidFill>
              <a:srgbClr val="E86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151376"/>
            <a:ext cx="475488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0472" y="4041648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23A"/>
                </a:solidFill>
                <a:latin typeface="Aptos"/>
              </a:rPr>
              <a:t>Review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0472" y="4434840"/>
            <a:ext cx="2029968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C7E"/>
                </a:solidFill>
                <a:latin typeface="Aptos"/>
              </a:rPr>
              <a:t>Filter matched/attention items, open originals and correct one extracted value.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822191"/>
            <a:ext cx="3182112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43400" y="4023359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BE3A43"/>
          </a:solidFill>
          <a:ln>
            <a:solidFill>
              <a:srgbClr val="BE3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4151376"/>
            <a:ext cx="475488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5192" y="4041648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23A"/>
                </a:solidFill>
                <a:latin typeface="Aptos"/>
              </a:rPr>
              <a:t>Confirm or flag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5192" y="4434840"/>
            <a:ext cx="2029968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C7E"/>
                </a:solidFill>
                <a:latin typeface="Aptos"/>
              </a:rPr>
              <a:t>Use safe bulk confirmation; generate and edit a grounded correction reason.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3822191"/>
            <a:ext cx="3182112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18119" y="4023359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1F8954"/>
          </a:solidFill>
          <a:ln>
            <a:solidFill>
              <a:srgbClr val="1F8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19" y="4151376"/>
            <a:ext cx="475488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2" y="4041648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223A"/>
                </a:solidFill>
                <a:latin typeface="Aptos"/>
              </a:rPr>
              <a:t>Approve + create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2" y="4434840"/>
            <a:ext cx="2029968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C7E"/>
                </a:solidFill>
                <a:latin typeface="Aptos"/>
              </a:rPr>
              <a:t>Validate ERP payload; show portal reference, ERP record ID and Vendor ID.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06440"/>
            <a:ext cx="1033272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1F63BF"/>
                </a:solidFill>
                <a:latin typeface="Aptos"/>
              </a:rPr>
              <a:t>Finish in the read-only Vendor Master: search the new Vendor ID, retrieve the ERP record and link back to onboarding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3832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63BF"/>
                </a:solidFill>
                <a:latin typeface="Aptos"/>
              </a:rPr>
              <a:t>METRICS • PLACEHOLDER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23A"/>
                </a:solidFill>
                <a:latin typeface="Aptos Display"/>
              </a:rPr>
              <a:t>Measurement framework ready; results to be inserted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Keep this slide value-free until the final monitored validation run is complete.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D223A"/>
          </a:solidFill>
          <a:ln>
            <a:solidFill>
              <a:srgbClr val="0D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5624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VendorLens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56248"/>
            <a:ext cx="466344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AFC6DD"/>
                </a:solidFill>
                <a:latin typeface="Aptos"/>
              </a:rPr>
              <a:t>Metrics 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5943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8EBFEF"/>
                </a:solidFill>
                <a:latin typeface="Aptos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38528"/>
            <a:ext cx="2267712" cy="2770632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9050"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94560"/>
            <a:ext cx="184708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F63BF"/>
                </a:solidFill>
                <a:latin typeface="Aptos"/>
              </a:rPr>
              <a:t>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697480"/>
            <a:ext cx="1847088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900" b="1">
                <a:solidFill>
                  <a:srgbClr val="0D223A"/>
                </a:solidFill>
                <a:latin typeface="Aptos Display"/>
              </a:rPr>
              <a:t>TBD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47288"/>
            <a:ext cx="1737360" cy="8046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C7E"/>
                </a:solidFill>
                <a:latin typeface="Aptos"/>
              </a:rPr>
              <a:t>Extraction accuracy
Grounding + citation rate
Not-found + isolation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938528"/>
            <a:ext cx="2267712" cy="2770632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2194560"/>
            <a:ext cx="184708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Aptos"/>
              </a:rPr>
              <a:t>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697480"/>
            <a:ext cx="1847088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900" b="1">
                <a:solidFill>
                  <a:srgbClr val="0D223A"/>
                </a:solidFill>
                <a:latin typeface="Aptos Display"/>
              </a:rPr>
              <a:t>TBD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3447288"/>
            <a:ext cx="1737360" cy="8046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C7E"/>
                </a:solidFill>
                <a:latin typeface="Aptos"/>
              </a:rPr>
              <a:t>Median review time
Touchless validation rate
Correction cycle 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2512" y="1938528"/>
            <a:ext cx="2267712" cy="2770632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9050">
            <a:solidFill>
              <a:srgbClr val="E86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94560"/>
            <a:ext cx="184708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E86D25"/>
                </a:solidFill>
                <a:latin typeface="Aptos"/>
              </a:rPr>
              <a:t>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97480"/>
            <a:ext cx="1847088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900" b="1">
                <a:solidFill>
                  <a:srgbClr val="0D223A"/>
                </a:solidFill>
                <a:latin typeface="Aptos Display"/>
              </a:rPr>
              <a:t>TBD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3447288"/>
            <a:ext cx="1737360" cy="8046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C7E"/>
                </a:solidFill>
                <a:latin typeface="Aptos"/>
              </a:rPr>
              <a:t>Upload/AI success rate
P95 processing latency
ERP retry success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44584" y="1938528"/>
            <a:ext cx="2267712" cy="2770632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9050">
            <a:solidFill>
              <a:srgbClr val="6D4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2" y="2194560"/>
            <a:ext cx="184708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6D4CB5"/>
                </a:solidFill>
                <a:latin typeface="Aptos"/>
              </a:rPr>
              <a:t>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2697480"/>
            <a:ext cx="1847088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900" b="1">
                <a:solidFill>
                  <a:srgbClr val="0D223A"/>
                </a:solidFill>
                <a:latin typeface="Aptos Display"/>
              </a:rPr>
              <a:t>TBD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0615" y="3447288"/>
            <a:ext cx="1737360" cy="8046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C7E"/>
                </a:solidFill>
                <a:latin typeface="Aptos"/>
              </a:rPr>
              <a:t>Manual-attention rate
Reviewer overrides
Audit completeness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" y="5148072"/>
            <a:ext cx="102412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349240"/>
            <a:ext cx="10972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223A"/>
                </a:solidFill>
                <a:latin typeface="Aptos"/>
              </a:rPr>
              <a:t>Data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5330952"/>
            <a:ext cx="8412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5B6C7E"/>
                </a:solidFill>
                <a:latin typeface="Aptos"/>
              </a:rPr>
              <a:t>Langfuse traces + scores   •   Prometheus service metrics   •   Promptfoo/golden-set evaluation   •   reviewer audit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3BF"/>
          </a:solidFill>
          <a:ln>
            <a:solidFill>
              <a:srgbClr val="1F6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3832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F63BF"/>
                </a:solidFill>
                <a:latin typeface="Apto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D223A"/>
                </a:solidFill>
                <a:latin typeface="Aptos Display"/>
              </a:rPr>
              <a:t>Limitations, trade-offs and the path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78992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The prototype proves the workflow; production readiness requires stronger identity, storage, operations and governance.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D223A"/>
          </a:solidFill>
          <a:ln>
            <a:solidFill>
              <a:srgbClr val="0D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6556248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VendorLens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6556248"/>
            <a:ext cx="466344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AFC6DD"/>
                </a:solidFill>
                <a:latin typeface="Aptos"/>
              </a:rPr>
              <a:t>Limitations • trade-offs •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47104"/>
            <a:ext cx="59436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8EBFEF"/>
                </a:solidFill>
                <a:latin typeface="Aptos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65376"/>
            <a:ext cx="3246120" cy="3767328"/>
          </a:xfrm>
          <a:prstGeom prst="roundRect">
            <a:avLst>
              <a:gd name="adj" fmla="val 10000"/>
            </a:avLst>
          </a:prstGeom>
          <a:solidFill>
            <a:srgbClr val="FFF6ED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2697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E3A43"/>
                </a:solidFill>
                <a:latin typeface="Aptos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2"/>
            <a:ext cx="2670048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Synthetic India-only policy and mock ERP</a:t>
            </a:r>
          </a:p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Local file/vector storage and in-process background work</a:t>
            </a:r>
          </a:p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Demo authentication and no malware scanning</a:t>
            </a:r>
          </a:p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OCR and model outputs remain probabilistic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1865376"/>
            <a:ext cx="3246120" cy="3767328"/>
          </a:xfrm>
          <a:prstGeom prst="roundRect">
            <a:avLst>
              <a:gd name="adj" fmla="val 10000"/>
            </a:avLst>
          </a:prstGeom>
          <a:solidFill>
            <a:srgbClr val="FFFAF1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48840"/>
            <a:ext cx="2697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86D25"/>
                </a:solidFill>
                <a:latin typeface="Aptos"/>
              </a:rPr>
              <a:t>TRADE-OFFS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79192"/>
            <a:ext cx="2670048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Pre-upload AI gates improve quality but add latency and provider dependency</a:t>
            </a:r>
          </a:p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Human confirmation preserves accountability but not full automation</a:t>
            </a:r>
          </a:p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Local OCR protects evidence flow but consumes application resources</a:t>
            </a:r>
          </a:p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ChromaDB simplifies the demo but is not the final scale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1865376"/>
            <a:ext cx="3246120" cy="3767328"/>
          </a:xfrm>
          <a:prstGeom prst="roundRect">
            <a:avLst>
              <a:gd name="adj" fmla="val 10000"/>
            </a:avLst>
          </a:prstGeom>
          <a:solidFill>
            <a:srgbClr val="EAF9F6"/>
          </a:solidFill>
          <a:ln>
            <a:solidFill>
              <a:srgbClr val="D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148840"/>
            <a:ext cx="2697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8954"/>
                </a:solidFill>
                <a:latin typeface="Aptos"/>
              </a:rPr>
              <a:t>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679192"/>
            <a:ext cx="2670048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Enterprise SSO/RBAC, TLS and secrets management</a:t>
            </a:r>
          </a:p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Encrypted object storage, malware scanning and retention controls</a:t>
            </a:r>
          </a:p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Durable worker queue, retries and reconciliation</a:t>
            </a:r>
          </a:p>
          <a:p>
            <a:pPr>
              <a:spcAft>
                <a:spcPts val="1000"/>
              </a:spcAft>
              <a:defRPr sz="1150">
                <a:solidFill>
                  <a:srgbClr val="1B2A3A"/>
                </a:solidFill>
                <a:latin typeface="Aptos"/>
              </a:defRPr>
            </a:pPr>
            <a:r>
              <a:t>•  Production ERP adapter plus final evaluation and monitoring gates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5824728"/>
            <a:ext cx="9555480" cy="384048"/>
          </a:xfrm>
          <a:prstGeom prst="roundRect">
            <a:avLst>
              <a:gd name="adj" fmla="val 10000"/>
            </a:avLst>
          </a:prstGeom>
          <a:solidFill>
            <a:srgbClr val="0D223A"/>
          </a:solidFill>
          <a:ln>
            <a:solidFill>
              <a:srgbClr val="0D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5934456"/>
            <a:ext cx="918972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North star: reduce reviewer effort while keeping evidence, policy and accountability visible.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VendorLens AI - Presentation Deck</dc:title>
  <dc:subject>Supplier onboarding, full-stack architecture, RAG, demo, metrics, and production path</dc:subject>
  <dc:creator>VendorLens AI</dc:creator>
  <cp:keywords/>
  <dc:description>As-built baseline: merge_branch c2a23e4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