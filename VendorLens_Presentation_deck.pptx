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C39E2A-EC48-4629-9996-B55C5AA722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16890FD-5426-454A-923E-FD5DB47D46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37C4A5-F67A-437B-B795-919A2BA6E6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0350AC-C2A8-4922-B65C-2CB9CBCB449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ter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24CAE1-76C9-4D4A-91FD-3A703C70B0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1C2B56E-095E-4B78-B4E5-BF44D05E67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61F15BF-215D-40D4-B65B-B35A5609C6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BAA2317-6BC4-4564-A6BD-9C9C5CB7B4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B140F1D-F959-4DFC-81BF-E732BAF9FD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19E2A7-4E26-4541-AE3D-B08BE19AB5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20570DF-8431-4A6B-B459-615C562797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8046720" y="146160"/>
            <a:ext cx="4144680" cy="6711480"/>
          </a:xfrm>
          <a:prstGeom prst="rect">
            <a:avLst/>
          </a:prstGeom>
          <a:solidFill>
            <a:srgbClr val="103558"/>
          </a:solidFill>
          <a:ln w="12700">
            <a:solidFill>
              <a:srgbClr val="10355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49880" y="987480"/>
            <a:ext cx="66290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VendorLens AI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786240" y="1847160"/>
            <a:ext cx="685764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2800" b="1" u="none" strike="noStrike">
                <a:solidFill>
                  <a:srgbClr val="DAEBF5"/>
                </a:solidFill>
                <a:effectLst/>
                <a:uFillTx/>
                <a:latin typeface="Aptos Display"/>
              </a:rPr>
              <a:t>Evidence-led supplier onboarding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DAEBF5"/>
                </a:solidFill>
                <a:effectLst/>
                <a:uFillTx/>
                <a:latin typeface="Aptos Display"/>
              </a:rPr>
              <a:t>with human approval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804600" y="3246120"/>
            <a:ext cx="6629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E07E27"/>
                </a:solidFill>
                <a:effectLst/>
                <a:uFillTx/>
                <a:latin typeface="Aptos"/>
              </a:rPr>
              <a:t>From application and documents to an auditable ERP record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804600" y="5276160"/>
            <a:ext cx="6903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1CFE1"/>
                </a:solidFill>
                <a:effectLst/>
                <a:uFillTx/>
                <a:latin typeface="Aptos"/>
              </a:rPr>
              <a:t>React 19  •  FastAPI  •  PostgreSQL 18  •  ChromaDB  •  Tesseract  •  OpenRouter / Azure OpenAI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804600" y="5742360"/>
            <a:ext cx="5943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1CFE1"/>
                </a:solidFill>
                <a:effectLst/>
                <a:uFillTx/>
                <a:latin typeface="Aptos"/>
              </a:rPr>
              <a:t>As-built demo baseline  •  September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Rounded Rectangle 9"/>
          <p:cNvSpPr/>
          <p:nvPr/>
        </p:nvSpPr>
        <p:spPr>
          <a:xfrm>
            <a:off x="8577000" y="960120"/>
            <a:ext cx="2788560" cy="749520"/>
          </a:xfrm>
          <a:prstGeom prst="roundRect">
            <a:avLst>
              <a:gd name="adj" fmla="val 12000"/>
            </a:avLst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8577000" y="1088280"/>
            <a:ext cx="2788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SUPPLIER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8577000" y="1398960"/>
            <a:ext cx="278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5F2F9"/>
                </a:solidFill>
                <a:effectLst/>
                <a:uFillTx/>
                <a:latin typeface="Aptos"/>
              </a:rPr>
              <a:t>apply + upload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12"/>
          <p:cNvSpPr/>
          <p:nvPr/>
        </p:nvSpPr>
        <p:spPr>
          <a:xfrm>
            <a:off x="8577000" y="2121480"/>
            <a:ext cx="2788560" cy="749520"/>
          </a:xfrm>
          <a:prstGeom prst="roundRect">
            <a:avLst>
              <a:gd name="adj" fmla="val 12000"/>
            </a:avLst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8577000" y="2249280"/>
            <a:ext cx="2788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REVIEWER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4"/>
          <p:cNvSpPr/>
          <p:nvPr/>
        </p:nvSpPr>
        <p:spPr>
          <a:xfrm>
            <a:off x="8577000" y="2560320"/>
            <a:ext cx="278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5F2F9"/>
                </a:solidFill>
                <a:effectLst/>
                <a:uFillTx/>
                <a:latin typeface="Aptos"/>
              </a:rPr>
              <a:t>verify + decide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15"/>
          <p:cNvSpPr/>
          <p:nvPr/>
        </p:nvSpPr>
        <p:spPr>
          <a:xfrm>
            <a:off x="8577000" y="3282840"/>
            <a:ext cx="2788560" cy="749520"/>
          </a:xfrm>
          <a:prstGeom prst="roundRect">
            <a:avLst>
              <a:gd name="adj" fmla="val 12000"/>
            </a:avLst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16"/>
          <p:cNvSpPr/>
          <p:nvPr/>
        </p:nvSpPr>
        <p:spPr>
          <a:xfrm>
            <a:off x="8577000" y="3410640"/>
            <a:ext cx="2788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ADMIN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7"/>
          <p:cNvSpPr/>
          <p:nvPr/>
        </p:nvSpPr>
        <p:spPr>
          <a:xfrm>
            <a:off x="8577000" y="3721680"/>
            <a:ext cx="278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5F2F9"/>
                </a:solidFill>
                <a:effectLst/>
                <a:uFillTx/>
                <a:latin typeface="Aptos"/>
              </a:rPr>
              <a:t>observe + maintain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18"/>
          <p:cNvSpPr/>
          <p:nvPr/>
        </p:nvSpPr>
        <p:spPr>
          <a:xfrm>
            <a:off x="8577000" y="4443840"/>
            <a:ext cx="2788560" cy="749520"/>
          </a:xfrm>
          <a:prstGeom prst="roundRect">
            <a:avLst>
              <a:gd name="adj" fmla="val 12000"/>
            </a:avLst>
          </a:prstGeom>
          <a:solidFill>
            <a:srgbClr val="2D8659"/>
          </a:solidFill>
          <a:ln w="12700">
            <a:solidFill>
              <a:srgbClr val="2D865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19"/>
          <p:cNvSpPr/>
          <p:nvPr/>
        </p:nvSpPr>
        <p:spPr>
          <a:xfrm>
            <a:off x="8577000" y="4572000"/>
            <a:ext cx="2788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ERP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8577000" y="4883040"/>
            <a:ext cx="278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5F2F9"/>
                </a:solidFill>
                <a:effectLst/>
                <a:uFillTx/>
                <a:latin typeface="Aptos"/>
              </a:rPr>
              <a:t>validate + create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21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22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3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Opening | 0:00–0:40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4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01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ectangle 2"/>
          <p:cNvSpPr/>
          <p:nvPr/>
        </p:nvSpPr>
        <p:spPr>
          <a:xfrm>
            <a:off x="0" y="0"/>
            <a:ext cx="12191400" cy="127800"/>
          </a:xfrm>
          <a:prstGeom prst="rect">
            <a:avLst/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640080" y="393120"/>
            <a:ext cx="35658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PRODUCT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640080" y="694800"/>
            <a:ext cx="10881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One workflow, three workspaces, one accountable decision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5"/>
          <p:cNvSpPr/>
          <p:nvPr/>
        </p:nvSpPr>
        <p:spPr>
          <a:xfrm>
            <a:off x="658440" y="1325880"/>
            <a:ext cx="10698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VendorLens replaces disconnected forms, files, searches, and handoffs with a traceable case record.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6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7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Problem + product | 0:40–2:30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ounded Rectangle 10"/>
          <p:cNvSpPr/>
          <p:nvPr/>
        </p:nvSpPr>
        <p:spPr>
          <a:xfrm>
            <a:off x="658440" y="1993320"/>
            <a:ext cx="3126960" cy="3053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032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Rounded Rectangle 11"/>
          <p:cNvSpPr/>
          <p:nvPr/>
        </p:nvSpPr>
        <p:spPr>
          <a:xfrm>
            <a:off x="658440" y="1993320"/>
            <a:ext cx="3126960" cy="566640"/>
          </a:xfrm>
          <a:prstGeom prst="roundRect">
            <a:avLst>
              <a:gd name="adj" fmla="val 12000"/>
            </a:avLst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786240" y="2176200"/>
            <a:ext cx="2871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Supplier portal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3"/>
          <p:cNvSpPr/>
          <p:nvPr/>
        </p:nvSpPr>
        <p:spPr>
          <a:xfrm>
            <a:off x="914400" y="2816280"/>
            <a:ext cx="26971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Register • classify service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Upload dynamic checklist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Submit • correct • resubmit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Ask scoped onboarding questions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4"/>
          <p:cNvSpPr/>
          <p:nvPr/>
        </p:nvSpPr>
        <p:spPr>
          <a:xfrm>
            <a:off x="4105800" y="1993320"/>
            <a:ext cx="3126960" cy="3053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032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5"/>
          <p:cNvSpPr/>
          <p:nvPr/>
        </p:nvSpPr>
        <p:spPr>
          <a:xfrm>
            <a:off x="4105800" y="1993320"/>
            <a:ext cx="3126960" cy="566640"/>
          </a:xfrm>
          <a:prstGeom prst="roundRect">
            <a:avLst>
              <a:gd name="adj" fmla="val 12000"/>
            </a:avLst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16"/>
          <p:cNvSpPr/>
          <p:nvPr/>
        </p:nvSpPr>
        <p:spPr>
          <a:xfrm>
            <a:off x="4233600" y="2176200"/>
            <a:ext cx="2871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Reviewer workbench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7"/>
          <p:cNvSpPr/>
          <p:nvPr/>
        </p:nvSpPr>
        <p:spPr>
          <a:xfrm>
            <a:off x="4361760" y="2816280"/>
            <a:ext cx="26971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Inspect originals + history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Verify/correct AI fields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Run policy checks + case chat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Approve or reject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18"/>
          <p:cNvSpPr/>
          <p:nvPr/>
        </p:nvSpPr>
        <p:spPr>
          <a:xfrm>
            <a:off x="7552800" y="1993320"/>
            <a:ext cx="3126960" cy="3053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032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Rounded Rectangle 19"/>
          <p:cNvSpPr/>
          <p:nvPr/>
        </p:nvSpPr>
        <p:spPr>
          <a:xfrm>
            <a:off x="7552800" y="1993320"/>
            <a:ext cx="3126960" cy="566640"/>
          </a:xfrm>
          <a:prstGeom prst="roundRect">
            <a:avLst>
              <a:gd name="adj" fmla="val 12000"/>
            </a:avLst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20"/>
          <p:cNvSpPr/>
          <p:nvPr/>
        </p:nvSpPr>
        <p:spPr>
          <a:xfrm>
            <a:off x="7680960" y="2176200"/>
            <a:ext cx="2871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Administrator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1"/>
          <p:cNvSpPr/>
          <p:nvPr/>
        </p:nvSpPr>
        <p:spPr>
          <a:xfrm>
            <a:off x="7809120" y="2816280"/>
            <a:ext cx="26971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Manage demo profiles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Reset access safely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Inspect AI, OCR, RAG and ERP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30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operational metrics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22"/>
          <p:cNvSpPr/>
          <p:nvPr/>
        </p:nvSpPr>
        <p:spPr>
          <a:xfrm>
            <a:off x="4709160" y="5330880"/>
            <a:ext cx="1416960" cy="310680"/>
          </a:xfrm>
          <a:prstGeom prst="roundRect">
            <a:avLst>
              <a:gd name="adj" fmla="val 12000"/>
            </a:avLst>
          </a:prstGeom>
          <a:solidFill>
            <a:srgbClr val="BE3E3E"/>
          </a:solidFill>
          <a:ln w="12700">
            <a:solidFill>
              <a:srgbClr val="BE3E3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23"/>
          <p:cNvSpPr/>
          <p:nvPr/>
        </p:nvSpPr>
        <p:spPr>
          <a:xfrm>
            <a:off x="4709160" y="5403960"/>
            <a:ext cx="14169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NON-NEGOTIABLE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4"/>
          <p:cNvSpPr/>
          <p:nvPr/>
        </p:nvSpPr>
        <p:spPr>
          <a:xfrm>
            <a:off x="2907720" y="5769720"/>
            <a:ext cx="6354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AI assists; the reviewer remains the decision-maker.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2"/>
          <p:cNvSpPr/>
          <p:nvPr/>
        </p:nvSpPr>
        <p:spPr>
          <a:xfrm>
            <a:off x="0" y="0"/>
            <a:ext cx="12191400" cy="127800"/>
          </a:xfrm>
          <a:prstGeom prst="rect">
            <a:avLst/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3"/>
          <p:cNvSpPr/>
          <p:nvPr/>
        </p:nvSpPr>
        <p:spPr>
          <a:xfrm>
            <a:off x="640080" y="393120"/>
            <a:ext cx="35658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LIFECYCLE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4"/>
          <p:cNvSpPr/>
          <p:nvPr/>
        </p:nvSpPr>
        <p:spPr>
          <a:xfrm>
            <a:off x="640080" y="694800"/>
            <a:ext cx="10881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The complete as-built supplier journey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5"/>
          <p:cNvSpPr/>
          <p:nvPr/>
        </p:nvSpPr>
        <p:spPr>
          <a:xfrm>
            <a:off x="658440" y="1325880"/>
            <a:ext cx="10698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Readability, AI processing, evidence review, compliance, and approval are separate states—not one opaque score.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6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7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8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Workflow | 2:30–4:10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9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10"/>
          <p:cNvSpPr/>
          <p:nvPr/>
        </p:nvSpPr>
        <p:spPr>
          <a:xfrm>
            <a:off x="420480" y="2148840"/>
            <a:ext cx="1352880" cy="2011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Rounded Rectangle 11"/>
          <p:cNvSpPr/>
          <p:nvPr/>
        </p:nvSpPr>
        <p:spPr>
          <a:xfrm>
            <a:off x="859680" y="1920240"/>
            <a:ext cx="475200" cy="475200"/>
          </a:xfrm>
          <a:prstGeom prst="roundRect">
            <a:avLst>
              <a:gd name="adj" fmla="val 12000"/>
            </a:avLst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12"/>
          <p:cNvSpPr/>
          <p:nvPr/>
        </p:nvSpPr>
        <p:spPr>
          <a:xfrm>
            <a:off x="859680" y="2048400"/>
            <a:ext cx="4752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3"/>
          <p:cNvSpPr/>
          <p:nvPr/>
        </p:nvSpPr>
        <p:spPr>
          <a:xfrm>
            <a:off x="493920" y="2615040"/>
            <a:ext cx="12067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Classify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4"/>
          <p:cNvSpPr/>
          <p:nvPr/>
        </p:nvSpPr>
        <p:spPr>
          <a:xfrm>
            <a:off x="511920" y="3090600"/>
            <a:ext cx="117000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8 categories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24 subcategories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5"/>
          <p:cNvSpPr/>
          <p:nvPr/>
        </p:nvSpPr>
        <p:spPr>
          <a:xfrm>
            <a:off x="1801440" y="2871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ounded Rectangle 16"/>
          <p:cNvSpPr/>
          <p:nvPr/>
        </p:nvSpPr>
        <p:spPr>
          <a:xfrm>
            <a:off x="2084760" y="2148840"/>
            <a:ext cx="1352880" cy="2011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169A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Rounded Rectangle 17"/>
          <p:cNvSpPr/>
          <p:nvPr/>
        </p:nvSpPr>
        <p:spPr>
          <a:xfrm>
            <a:off x="2523600" y="1920240"/>
            <a:ext cx="475200" cy="475200"/>
          </a:xfrm>
          <a:prstGeom prst="roundRect">
            <a:avLst>
              <a:gd name="adj" fmla="val 12000"/>
            </a:avLst>
          </a:prstGeom>
          <a:solidFill>
            <a:srgbClr val="169A97"/>
          </a:solidFill>
          <a:ln w="12700">
            <a:solidFill>
              <a:srgbClr val="169A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18"/>
          <p:cNvSpPr/>
          <p:nvPr/>
        </p:nvSpPr>
        <p:spPr>
          <a:xfrm>
            <a:off x="2523600" y="2048400"/>
            <a:ext cx="4752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19"/>
          <p:cNvSpPr/>
          <p:nvPr/>
        </p:nvSpPr>
        <p:spPr>
          <a:xfrm>
            <a:off x="2157840" y="2615040"/>
            <a:ext cx="12067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Collect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20"/>
          <p:cNvSpPr/>
          <p:nvPr/>
        </p:nvSpPr>
        <p:spPr>
          <a:xfrm>
            <a:off x="2176200" y="3090600"/>
            <a:ext cx="117000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3 baseline +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policy evidence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21"/>
          <p:cNvSpPr/>
          <p:nvPr/>
        </p:nvSpPr>
        <p:spPr>
          <a:xfrm>
            <a:off x="3465720" y="2871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ounded Rectangle 22"/>
          <p:cNvSpPr/>
          <p:nvPr/>
        </p:nvSpPr>
        <p:spPr>
          <a:xfrm>
            <a:off x="3749040" y="2148840"/>
            <a:ext cx="1352880" cy="2011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Rounded Rectangle 23"/>
          <p:cNvSpPr/>
          <p:nvPr/>
        </p:nvSpPr>
        <p:spPr>
          <a:xfrm>
            <a:off x="4187880" y="1920240"/>
            <a:ext cx="475200" cy="475200"/>
          </a:xfrm>
          <a:prstGeom prst="roundRect">
            <a:avLst>
              <a:gd name="adj" fmla="val 12000"/>
            </a:avLst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24"/>
          <p:cNvSpPr/>
          <p:nvPr/>
        </p:nvSpPr>
        <p:spPr>
          <a:xfrm>
            <a:off x="4187880" y="2048400"/>
            <a:ext cx="4752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25"/>
          <p:cNvSpPr/>
          <p:nvPr/>
        </p:nvSpPr>
        <p:spPr>
          <a:xfrm>
            <a:off x="3822120" y="2615040"/>
            <a:ext cx="12067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Read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26"/>
          <p:cNvSpPr/>
          <p:nvPr/>
        </p:nvSpPr>
        <p:spPr>
          <a:xfrm>
            <a:off x="3840480" y="3090600"/>
            <a:ext cx="117000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native text +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selective OCR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27"/>
          <p:cNvSpPr/>
          <p:nvPr/>
        </p:nvSpPr>
        <p:spPr>
          <a:xfrm>
            <a:off x="5129640" y="2871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ounded Rectangle 28"/>
          <p:cNvSpPr/>
          <p:nvPr/>
        </p:nvSpPr>
        <p:spPr>
          <a:xfrm>
            <a:off x="5413320" y="2148840"/>
            <a:ext cx="1352880" cy="2011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ounded Rectangle 29"/>
          <p:cNvSpPr/>
          <p:nvPr/>
        </p:nvSpPr>
        <p:spPr>
          <a:xfrm>
            <a:off x="5852160" y="1920240"/>
            <a:ext cx="475200" cy="475200"/>
          </a:xfrm>
          <a:prstGeom prst="roundRect">
            <a:avLst>
              <a:gd name="adj" fmla="val 12000"/>
            </a:avLst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30"/>
          <p:cNvSpPr/>
          <p:nvPr/>
        </p:nvSpPr>
        <p:spPr>
          <a:xfrm>
            <a:off x="5852160" y="2048400"/>
            <a:ext cx="4752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31"/>
          <p:cNvSpPr/>
          <p:nvPr/>
        </p:nvSpPr>
        <p:spPr>
          <a:xfrm>
            <a:off x="5486400" y="2615040"/>
            <a:ext cx="12067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Understand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2"/>
          <p:cNvSpPr/>
          <p:nvPr/>
        </p:nvSpPr>
        <p:spPr>
          <a:xfrm>
            <a:off x="5504760" y="3090600"/>
            <a:ext cx="117000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redact • extract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embed • cite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33"/>
          <p:cNvSpPr/>
          <p:nvPr/>
        </p:nvSpPr>
        <p:spPr>
          <a:xfrm>
            <a:off x="6793920" y="2871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7077600" y="2148840"/>
            <a:ext cx="1352880" cy="2011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123C6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516440" y="1920240"/>
            <a:ext cx="475200" cy="475200"/>
          </a:xfrm>
          <a:prstGeom prst="roundRect">
            <a:avLst>
              <a:gd name="adj" fmla="val 12000"/>
            </a:avLst>
          </a:prstGeom>
          <a:solidFill>
            <a:srgbClr val="123C69"/>
          </a:solidFill>
          <a:ln w="12700">
            <a:solidFill>
              <a:srgbClr val="123C6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36"/>
          <p:cNvSpPr/>
          <p:nvPr/>
        </p:nvSpPr>
        <p:spPr>
          <a:xfrm>
            <a:off x="7516440" y="2048400"/>
            <a:ext cx="4752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37"/>
          <p:cNvSpPr/>
          <p:nvPr/>
        </p:nvSpPr>
        <p:spPr>
          <a:xfrm>
            <a:off x="7150680" y="2615040"/>
            <a:ext cx="12067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Review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38"/>
          <p:cNvSpPr/>
          <p:nvPr/>
        </p:nvSpPr>
        <p:spPr>
          <a:xfrm>
            <a:off x="7169040" y="3090600"/>
            <a:ext cx="117000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originals • fields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checks • feedback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39"/>
          <p:cNvSpPr/>
          <p:nvPr/>
        </p:nvSpPr>
        <p:spPr>
          <a:xfrm>
            <a:off x="8458200" y="2871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ounded Rectangle 40"/>
          <p:cNvSpPr/>
          <p:nvPr/>
        </p:nvSpPr>
        <p:spPr>
          <a:xfrm>
            <a:off x="8741520" y="2148840"/>
            <a:ext cx="1352880" cy="2011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2D865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ounded Rectangle 41"/>
          <p:cNvSpPr/>
          <p:nvPr/>
        </p:nvSpPr>
        <p:spPr>
          <a:xfrm>
            <a:off x="9180720" y="1920240"/>
            <a:ext cx="475200" cy="475200"/>
          </a:xfrm>
          <a:prstGeom prst="roundRect">
            <a:avLst>
              <a:gd name="adj" fmla="val 12000"/>
            </a:avLst>
          </a:prstGeom>
          <a:solidFill>
            <a:srgbClr val="2D8659"/>
          </a:solidFill>
          <a:ln w="12700">
            <a:solidFill>
              <a:srgbClr val="2D865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42"/>
          <p:cNvSpPr/>
          <p:nvPr/>
        </p:nvSpPr>
        <p:spPr>
          <a:xfrm>
            <a:off x="9180720" y="2048400"/>
            <a:ext cx="4752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43"/>
          <p:cNvSpPr/>
          <p:nvPr/>
        </p:nvSpPr>
        <p:spPr>
          <a:xfrm>
            <a:off x="8814960" y="2615040"/>
            <a:ext cx="12067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Decide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44"/>
          <p:cNvSpPr/>
          <p:nvPr/>
        </p:nvSpPr>
        <p:spPr>
          <a:xfrm>
            <a:off x="8832960" y="3090600"/>
            <a:ext cx="117000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all checks PASS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explicit reviewer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45"/>
          <p:cNvSpPr/>
          <p:nvPr/>
        </p:nvSpPr>
        <p:spPr>
          <a:xfrm>
            <a:off x="10122480" y="2871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46"/>
          <p:cNvSpPr/>
          <p:nvPr/>
        </p:nvSpPr>
        <p:spPr>
          <a:xfrm>
            <a:off x="10405800" y="2148840"/>
            <a:ext cx="1352880" cy="2011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Rounded Rectangle 47"/>
          <p:cNvSpPr/>
          <p:nvPr/>
        </p:nvSpPr>
        <p:spPr>
          <a:xfrm>
            <a:off x="10844640" y="1920240"/>
            <a:ext cx="475200" cy="475200"/>
          </a:xfrm>
          <a:prstGeom prst="roundRect">
            <a:avLst>
              <a:gd name="adj" fmla="val 12000"/>
            </a:avLst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48"/>
          <p:cNvSpPr/>
          <p:nvPr/>
        </p:nvSpPr>
        <p:spPr>
          <a:xfrm>
            <a:off x="10844640" y="2048400"/>
            <a:ext cx="4752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49"/>
          <p:cNvSpPr/>
          <p:nvPr/>
        </p:nvSpPr>
        <p:spPr>
          <a:xfrm>
            <a:off x="10478880" y="2615040"/>
            <a:ext cx="120672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Create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50"/>
          <p:cNvSpPr/>
          <p:nvPr/>
        </p:nvSpPr>
        <p:spPr>
          <a:xfrm>
            <a:off x="10497240" y="3090600"/>
            <a:ext cx="117000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idempotent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ERP record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ounded Rectangle 51"/>
          <p:cNvSpPr/>
          <p:nvPr/>
        </p:nvSpPr>
        <p:spPr>
          <a:xfrm>
            <a:off x="1042560" y="4709160"/>
            <a:ext cx="4251600" cy="868320"/>
          </a:xfrm>
          <a:prstGeom prst="roundRect">
            <a:avLst>
              <a:gd name="adj" fmla="val 12000"/>
            </a:avLst>
          </a:prstGeom>
          <a:solidFill>
            <a:srgbClr val="FFF5E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52"/>
          <p:cNvSpPr/>
          <p:nvPr/>
        </p:nvSpPr>
        <p:spPr>
          <a:xfrm>
            <a:off x="1261800" y="4901040"/>
            <a:ext cx="1325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E07E27"/>
                </a:solidFill>
                <a:effectLst/>
                <a:uFillTx/>
                <a:latin typeface="Aptos"/>
              </a:rPr>
              <a:t>Correction loop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53"/>
          <p:cNvSpPr/>
          <p:nvPr/>
        </p:nvSpPr>
        <p:spPr>
          <a:xfrm>
            <a:off x="2560320" y="4901040"/>
            <a:ext cx="2422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flag evidence → supplier replaces → resubmit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54"/>
          <p:cNvSpPr/>
          <p:nvPr/>
        </p:nvSpPr>
        <p:spPr>
          <a:xfrm>
            <a:off x="5852160" y="4709160"/>
            <a:ext cx="5257440" cy="868320"/>
          </a:xfrm>
          <a:prstGeom prst="roundRect">
            <a:avLst>
              <a:gd name="adj" fmla="val 12000"/>
            </a:avLst>
          </a:prstGeom>
          <a:solidFill>
            <a:srgbClr val="E8F5F8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55"/>
          <p:cNvSpPr/>
          <p:nvPr/>
        </p:nvSpPr>
        <p:spPr>
          <a:xfrm>
            <a:off x="6108120" y="4901040"/>
            <a:ext cx="2486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Submission survives AI failure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56"/>
          <p:cNvSpPr/>
          <p:nvPr/>
        </p:nvSpPr>
        <p:spPr>
          <a:xfrm>
            <a:off x="8641080" y="4901040"/>
            <a:ext cx="2102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safe failure state + reviewer retry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0" y="0"/>
            <a:ext cx="12191400" cy="127800"/>
          </a:xfrm>
          <a:prstGeom prst="rect">
            <a:avLst/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Box 3"/>
          <p:cNvSpPr/>
          <p:nvPr/>
        </p:nvSpPr>
        <p:spPr>
          <a:xfrm>
            <a:off x="640080" y="393120"/>
            <a:ext cx="35658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ARCHITECTURE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4"/>
          <p:cNvSpPr/>
          <p:nvPr/>
        </p:nvSpPr>
        <p:spPr>
          <a:xfrm>
            <a:off x="640080" y="694800"/>
            <a:ext cx="10881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Application components with explicit trust boundaries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658440" y="1325880"/>
            <a:ext cx="10698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Compose runs frontend, backend, PostgreSQL and mock ERP; Chroma is embedded persistence and AI is external.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6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Box 7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8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Architecture | 4:10–6:20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9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ounded Rectangle 10"/>
          <p:cNvSpPr/>
          <p:nvPr/>
        </p:nvSpPr>
        <p:spPr>
          <a:xfrm>
            <a:off x="658440" y="2084760"/>
            <a:ext cx="2011320" cy="1206720"/>
          </a:xfrm>
          <a:prstGeom prst="roundRect">
            <a:avLst>
              <a:gd name="adj" fmla="val 12000"/>
            </a:avLst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658440" y="2286000"/>
            <a:ext cx="2011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React / Nginx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12"/>
          <p:cNvSpPr/>
          <p:nvPr/>
        </p:nvSpPr>
        <p:spPr>
          <a:xfrm>
            <a:off x="731520" y="2651760"/>
            <a:ext cx="18651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role UI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/api reverse proxy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13"/>
          <p:cNvSpPr/>
          <p:nvPr/>
        </p:nvSpPr>
        <p:spPr>
          <a:xfrm>
            <a:off x="3337560" y="1901880"/>
            <a:ext cx="2377080" cy="1206720"/>
          </a:xfrm>
          <a:prstGeom prst="roundRect">
            <a:avLst>
              <a:gd name="adj" fmla="val 12000"/>
            </a:avLst>
          </a:prstGeom>
          <a:solidFill>
            <a:srgbClr val="169A97"/>
          </a:solidFill>
          <a:ln w="12700">
            <a:solidFill>
              <a:srgbClr val="169A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14"/>
          <p:cNvSpPr/>
          <p:nvPr/>
        </p:nvSpPr>
        <p:spPr>
          <a:xfrm>
            <a:off x="3337560" y="2103120"/>
            <a:ext cx="2377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FastAPI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5"/>
          <p:cNvSpPr/>
          <p:nvPr/>
        </p:nvSpPr>
        <p:spPr>
          <a:xfrm>
            <a:off x="3410640" y="2468880"/>
            <a:ext cx="22309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auth • workflow • OCR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AI • policy • audit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16"/>
          <p:cNvSpPr/>
          <p:nvPr/>
        </p:nvSpPr>
        <p:spPr>
          <a:xfrm>
            <a:off x="9070920" y="1901880"/>
            <a:ext cx="2239920" cy="1206720"/>
          </a:xfrm>
          <a:prstGeom prst="roundRect">
            <a:avLst>
              <a:gd name="adj" fmla="val 12000"/>
            </a:avLst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17"/>
          <p:cNvSpPr/>
          <p:nvPr/>
        </p:nvSpPr>
        <p:spPr>
          <a:xfrm>
            <a:off x="9070920" y="2103120"/>
            <a:ext cx="2239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AI provider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8"/>
          <p:cNvSpPr/>
          <p:nvPr/>
        </p:nvSpPr>
        <p:spPr>
          <a:xfrm>
            <a:off x="9144000" y="2468880"/>
            <a:ext cx="209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OpenRouter or Azure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external boundary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ounded Rectangle 19"/>
          <p:cNvSpPr/>
          <p:nvPr/>
        </p:nvSpPr>
        <p:spPr>
          <a:xfrm>
            <a:off x="1554480" y="3822120"/>
            <a:ext cx="2267280" cy="1206720"/>
          </a:xfrm>
          <a:prstGeom prst="roundRect">
            <a:avLst>
              <a:gd name="adj" fmla="val 12000"/>
            </a:avLst>
          </a:prstGeom>
          <a:solidFill>
            <a:srgbClr val="123C69"/>
          </a:solidFill>
          <a:ln w="12700">
            <a:solidFill>
              <a:srgbClr val="123C6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20"/>
          <p:cNvSpPr/>
          <p:nvPr/>
        </p:nvSpPr>
        <p:spPr>
          <a:xfrm>
            <a:off x="1554480" y="4023360"/>
            <a:ext cx="2267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PostgreSQL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1"/>
          <p:cNvSpPr/>
          <p:nvPr/>
        </p:nvSpPr>
        <p:spPr>
          <a:xfrm>
            <a:off x="1627560" y="4389120"/>
            <a:ext cx="2121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business source of truth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cases • runs • audit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22"/>
          <p:cNvSpPr/>
          <p:nvPr/>
        </p:nvSpPr>
        <p:spPr>
          <a:xfrm>
            <a:off x="4645080" y="3822120"/>
            <a:ext cx="2267280" cy="1206720"/>
          </a:xfrm>
          <a:prstGeom prst="roundRect">
            <a:avLst>
              <a:gd name="adj" fmla="val 12000"/>
            </a:avLst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23"/>
          <p:cNvSpPr/>
          <p:nvPr/>
        </p:nvSpPr>
        <p:spPr>
          <a:xfrm>
            <a:off x="4645080" y="4023360"/>
            <a:ext cx="2267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ChromaDB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24"/>
          <p:cNvSpPr/>
          <p:nvPr/>
        </p:nvSpPr>
        <p:spPr>
          <a:xfrm>
            <a:off x="4718160" y="4389120"/>
            <a:ext cx="2121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embedded persistent client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supplier-filtered vectors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ounded Rectangle 25"/>
          <p:cNvSpPr/>
          <p:nvPr/>
        </p:nvSpPr>
        <p:spPr>
          <a:xfrm>
            <a:off x="7735680" y="3822120"/>
            <a:ext cx="2267280" cy="1206720"/>
          </a:xfrm>
          <a:prstGeom prst="roundRect">
            <a:avLst>
              <a:gd name="adj" fmla="val 12000"/>
            </a:avLst>
          </a:prstGeom>
          <a:solidFill>
            <a:srgbClr val="2D8659"/>
          </a:solidFill>
          <a:ln w="12700">
            <a:solidFill>
              <a:srgbClr val="2D865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26"/>
          <p:cNvSpPr/>
          <p:nvPr/>
        </p:nvSpPr>
        <p:spPr>
          <a:xfrm>
            <a:off x="7735680" y="4023360"/>
            <a:ext cx="2267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Mock ERP 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27"/>
          <p:cNvSpPr/>
          <p:nvPr/>
        </p:nvSpPr>
        <p:spPr>
          <a:xfrm>
            <a:off x="7809120" y="4389120"/>
            <a:ext cx="2121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separate JSON-RPC service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E6F3F9"/>
                </a:solidFill>
                <a:effectLst/>
                <a:uFillTx/>
                <a:latin typeface="Aptos"/>
              </a:rPr>
              <a:t>validate • create • get • list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28"/>
          <p:cNvSpPr/>
          <p:nvPr/>
        </p:nvSpPr>
        <p:spPr>
          <a:xfrm>
            <a:off x="2788920" y="2359080"/>
            <a:ext cx="32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29"/>
          <p:cNvSpPr/>
          <p:nvPr/>
        </p:nvSpPr>
        <p:spPr>
          <a:xfrm>
            <a:off x="7242120" y="2286000"/>
            <a:ext cx="32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E07E27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4" name="Connector 30"/>
          <p:cNvCxnSpPr/>
          <p:nvPr/>
        </p:nvCxnSpPr>
        <p:spPr>
          <a:xfrm>
            <a:off x="5715000" y="2496240"/>
            <a:ext cx="1490760" cy="360"/>
          </a:xfrm>
          <a:prstGeom prst="straightConnector1">
            <a:avLst/>
          </a:prstGeom>
          <a:ln>
            <a:solidFill>
              <a:srgbClr val="169A97"/>
            </a:solidFill>
            <a:round/>
          </a:ln>
        </p:spPr>
      </p:cxnSp>
      <p:cxnSp>
        <p:nvCxnSpPr>
          <p:cNvPr id="195" name="Connector 31"/>
          <p:cNvCxnSpPr/>
          <p:nvPr/>
        </p:nvCxnSpPr>
        <p:spPr>
          <a:xfrm flipH="1">
            <a:off x="2697480" y="3126960"/>
            <a:ext cx="1829160" cy="640440"/>
          </a:xfrm>
          <a:prstGeom prst="straightConnector1">
            <a:avLst/>
          </a:prstGeom>
          <a:ln>
            <a:solidFill>
              <a:srgbClr val="123C69"/>
            </a:solidFill>
            <a:round/>
          </a:ln>
        </p:spPr>
      </p:cxnSp>
      <p:cxnSp>
        <p:nvCxnSpPr>
          <p:cNvPr id="196" name="Connector 32"/>
          <p:cNvCxnSpPr/>
          <p:nvPr/>
        </p:nvCxnSpPr>
        <p:spPr>
          <a:xfrm>
            <a:off x="4526280" y="3126960"/>
            <a:ext cx="1252800" cy="640440"/>
          </a:xfrm>
          <a:prstGeom prst="straightConnector1">
            <a:avLst/>
          </a:prstGeom>
          <a:ln>
            <a:solidFill>
              <a:srgbClr val="7049BE"/>
            </a:solidFill>
            <a:round/>
          </a:ln>
        </p:spPr>
      </p:cxnSp>
      <p:cxnSp>
        <p:nvCxnSpPr>
          <p:cNvPr id="197" name="Connector 33"/>
          <p:cNvCxnSpPr/>
          <p:nvPr/>
        </p:nvCxnSpPr>
        <p:spPr>
          <a:xfrm>
            <a:off x="4526280" y="3126960"/>
            <a:ext cx="4325400" cy="640440"/>
          </a:xfrm>
          <a:prstGeom prst="straightConnector1">
            <a:avLst/>
          </a:prstGeom>
          <a:ln>
            <a:solidFill>
              <a:srgbClr val="2D8659"/>
            </a:solidFill>
            <a:round/>
          </a:ln>
        </p:spPr>
      </p:cxnSp>
      <p:sp>
        <p:nvSpPr>
          <p:cNvPr id="198" name="Rounded Rectangle 34"/>
          <p:cNvSpPr/>
          <p:nvPr/>
        </p:nvSpPr>
        <p:spPr>
          <a:xfrm>
            <a:off x="786240" y="5276160"/>
            <a:ext cx="1416960" cy="347040"/>
          </a:xfrm>
          <a:prstGeom prst="roundRect">
            <a:avLst>
              <a:gd name="adj" fmla="val 12000"/>
            </a:avLst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35"/>
          <p:cNvSpPr/>
          <p:nvPr/>
        </p:nvSpPr>
        <p:spPr>
          <a:xfrm>
            <a:off x="786240" y="5376600"/>
            <a:ext cx="14169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1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UPLOAD VOLUME</a:t>
            </a:r>
            <a:endParaRPr lang="en-US" sz="9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36"/>
          <p:cNvSpPr/>
          <p:nvPr/>
        </p:nvSpPr>
        <p:spPr>
          <a:xfrm>
            <a:off x="2359080" y="5358240"/>
            <a:ext cx="2358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UUID files • SHA-256 • revisions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ounded Rectangle 37"/>
          <p:cNvSpPr/>
          <p:nvPr/>
        </p:nvSpPr>
        <p:spPr>
          <a:xfrm>
            <a:off x="5650920" y="5294520"/>
            <a:ext cx="1206720" cy="310680"/>
          </a:xfrm>
          <a:prstGeom prst="roundRect">
            <a:avLst>
              <a:gd name="adj" fmla="val 12000"/>
            </a:avLst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38"/>
          <p:cNvSpPr/>
          <p:nvPr/>
        </p:nvSpPr>
        <p:spPr>
          <a:xfrm>
            <a:off x="5650920" y="5367600"/>
            <a:ext cx="12067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PROVIDER RULE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39"/>
          <p:cNvSpPr/>
          <p:nvPr/>
        </p:nvSpPr>
        <p:spPr>
          <a:xfrm>
            <a:off x="7059240" y="5340240"/>
            <a:ext cx="370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3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No silent cross-provider failover.</a:t>
            </a:r>
            <a:endParaRPr lang="en-US" sz="12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ectangle 2"/>
          <p:cNvSpPr/>
          <p:nvPr/>
        </p:nvSpPr>
        <p:spPr>
          <a:xfrm>
            <a:off x="0" y="0"/>
            <a:ext cx="12191400" cy="127800"/>
          </a:xfrm>
          <a:prstGeom prst="rect">
            <a:avLst/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3"/>
          <p:cNvSpPr/>
          <p:nvPr/>
        </p:nvSpPr>
        <p:spPr>
          <a:xfrm>
            <a:off x="640080" y="393120"/>
            <a:ext cx="35658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DOCUMENT AI + RAG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4"/>
          <p:cNvSpPr/>
          <p:nvPr/>
        </p:nvSpPr>
        <p:spPr>
          <a:xfrm>
            <a:off x="640080" y="694800"/>
            <a:ext cx="10881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Readable evidence in; traceable facts and answers out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5"/>
          <p:cNvSpPr/>
          <p:nvPr/>
        </p:nvSpPr>
        <p:spPr>
          <a:xfrm>
            <a:off x="658440" y="1325880"/>
            <a:ext cx="10698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OCR provenance, typed PII placeholders, page-local chunks, and citation validation make model output inspectable.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6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TextBox 7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AI pipeline | 6:20–8:10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ounded Rectangle 10"/>
          <p:cNvSpPr/>
          <p:nvPr/>
        </p:nvSpPr>
        <p:spPr>
          <a:xfrm>
            <a:off x="594360" y="1993320"/>
            <a:ext cx="1874160" cy="162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Rounded Rectangle 11"/>
          <p:cNvSpPr/>
          <p:nvPr/>
        </p:nvSpPr>
        <p:spPr>
          <a:xfrm>
            <a:off x="978480" y="2212920"/>
            <a:ext cx="1105920" cy="310680"/>
          </a:xfrm>
          <a:prstGeom prst="roundRect">
            <a:avLst>
              <a:gd name="adj" fmla="val 12000"/>
            </a:avLst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TextBox 12"/>
          <p:cNvSpPr/>
          <p:nvPr/>
        </p:nvSpPr>
        <p:spPr>
          <a:xfrm>
            <a:off x="978480" y="2286000"/>
            <a:ext cx="11059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3"/>
          <p:cNvSpPr/>
          <p:nvPr/>
        </p:nvSpPr>
        <p:spPr>
          <a:xfrm>
            <a:off x="749880" y="2816280"/>
            <a:ext cx="15631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PDF / PNG / JPEG / TXT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native • mixed • OCR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14"/>
          <p:cNvSpPr/>
          <p:nvPr/>
        </p:nvSpPr>
        <p:spPr>
          <a:xfrm>
            <a:off x="2487240" y="2651760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Rounded Rectangle 15"/>
          <p:cNvSpPr/>
          <p:nvPr/>
        </p:nvSpPr>
        <p:spPr>
          <a:xfrm>
            <a:off x="2788920" y="1993320"/>
            <a:ext cx="1874160" cy="162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E3E3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Rounded Rectangle 16"/>
          <p:cNvSpPr/>
          <p:nvPr/>
        </p:nvSpPr>
        <p:spPr>
          <a:xfrm>
            <a:off x="3173040" y="2212920"/>
            <a:ext cx="1105920" cy="310680"/>
          </a:xfrm>
          <a:prstGeom prst="roundRect">
            <a:avLst>
              <a:gd name="adj" fmla="val 12000"/>
            </a:avLst>
          </a:prstGeom>
          <a:solidFill>
            <a:srgbClr val="BE3E3E"/>
          </a:solidFill>
          <a:ln w="12700">
            <a:solidFill>
              <a:srgbClr val="BE3E3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Box 17"/>
          <p:cNvSpPr/>
          <p:nvPr/>
        </p:nvSpPr>
        <p:spPr>
          <a:xfrm>
            <a:off x="3173040" y="2286000"/>
            <a:ext cx="11059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REDACT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18"/>
          <p:cNvSpPr/>
          <p:nvPr/>
        </p:nvSpPr>
        <p:spPr>
          <a:xfrm>
            <a:off x="2944440" y="2816280"/>
            <a:ext cx="15631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GSTIN • PAN • CIN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email • phone • bank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19"/>
          <p:cNvSpPr/>
          <p:nvPr/>
        </p:nvSpPr>
        <p:spPr>
          <a:xfrm>
            <a:off x="4681800" y="2651760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ounded Rectangle 20"/>
          <p:cNvSpPr/>
          <p:nvPr/>
        </p:nvSpPr>
        <p:spPr>
          <a:xfrm>
            <a:off x="4983480" y="1993320"/>
            <a:ext cx="1874160" cy="162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9A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Rounded Rectangle 21"/>
          <p:cNvSpPr/>
          <p:nvPr/>
        </p:nvSpPr>
        <p:spPr>
          <a:xfrm>
            <a:off x="5367600" y="2212920"/>
            <a:ext cx="1105920" cy="310680"/>
          </a:xfrm>
          <a:prstGeom prst="roundRect">
            <a:avLst>
              <a:gd name="adj" fmla="val 12000"/>
            </a:avLst>
          </a:prstGeom>
          <a:solidFill>
            <a:srgbClr val="169A97"/>
          </a:solidFill>
          <a:ln w="12700">
            <a:solidFill>
              <a:srgbClr val="169A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22"/>
          <p:cNvSpPr/>
          <p:nvPr/>
        </p:nvSpPr>
        <p:spPr>
          <a:xfrm>
            <a:off x="5367600" y="2286000"/>
            <a:ext cx="11059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EXTRACT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23"/>
          <p:cNvSpPr/>
          <p:nvPr/>
        </p:nvSpPr>
        <p:spPr>
          <a:xfrm>
            <a:off x="5139000" y="2816280"/>
            <a:ext cx="15631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allow-listed fields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page • confidence • conflicts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24"/>
          <p:cNvSpPr/>
          <p:nvPr/>
        </p:nvSpPr>
        <p:spPr>
          <a:xfrm>
            <a:off x="6876360" y="2651760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ounded Rectangle 25"/>
          <p:cNvSpPr/>
          <p:nvPr/>
        </p:nvSpPr>
        <p:spPr>
          <a:xfrm>
            <a:off x="7178040" y="1993320"/>
            <a:ext cx="1874160" cy="162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Rounded Rectangle 26"/>
          <p:cNvSpPr/>
          <p:nvPr/>
        </p:nvSpPr>
        <p:spPr>
          <a:xfrm>
            <a:off x="7562160" y="2212920"/>
            <a:ext cx="1105920" cy="310680"/>
          </a:xfrm>
          <a:prstGeom prst="roundRect">
            <a:avLst>
              <a:gd name="adj" fmla="val 12000"/>
            </a:avLst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TextBox 27"/>
          <p:cNvSpPr/>
          <p:nvPr/>
        </p:nvSpPr>
        <p:spPr>
          <a:xfrm>
            <a:off x="7562160" y="2286000"/>
            <a:ext cx="11059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INDEX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28"/>
          <p:cNvSpPr/>
          <p:nvPr/>
        </p:nvSpPr>
        <p:spPr>
          <a:xfrm>
            <a:off x="7333560" y="2816280"/>
            <a:ext cx="15631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500 tokens • 75 overlap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never crosses a page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29"/>
          <p:cNvSpPr/>
          <p:nvPr/>
        </p:nvSpPr>
        <p:spPr>
          <a:xfrm>
            <a:off x="9070920" y="2651760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8C9D3"/>
                </a:solidFill>
                <a:effectLst/>
                <a:uFillTx/>
                <a:latin typeface="Aptos"/>
              </a:rPr>
              <a:t>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30"/>
          <p:cNvSpPr/>
          <p:nvPr/>
        </p:nvSpPr>
        <p:spPr>
          <a:xfrm>
            <a:off x="9372600" y="1993320"/>
            <a:ext cx="1874160" cy="162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Rounded Rectangle 31"/>
          <p:cNvSpPr/>
          <p:nvPr/>
        </p:nvSpPr>
        <p:spPr>
          <a:xfrm>
            <a:off x="9756720" y="2212920"/>
            <a:ext cx="1105920" cy="310680"/>
          </a:xfrm>
          <a:prstGeom prst="roundRect">
            <a:avLst>
              <a:gd name="adj" fmla="val 12000"/>
            </a:avLst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32"/>
          <p:cNvSpPr/>
          <p:nvPr/>
        </p:nvSpPr>
        <p:spPr>
          <a:xfrm>
            <a:off x="9756720" y="2286000"/>
            <a:ext cx="11059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ANSWER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33"/>
          <p:cNvSpPr/>
          <p:nvPr/>
        </p:nvSpPr>
        <p:spPr>
          <a:xfrm>
            <a:off x="9528120" y="2816280"/>
            <a:ext cx="15631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top 4 • distance 0.72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citation or exact not-found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ounded Rectangle 34"/>
          <p:cNvSpPr/>
          <p:nvPr/>
        </p:nvSpPr>
        <p:spPr>
          <a:xfrm>
            <a:off x="713160" y="4133160"/>
            <a:ext cx="3364560" cy="1133640"/>
          </a:xfrm>
          <a:prstGeom prst="roundRect">
            <a:avLst>
              <a:gd name="adj" fmla="val 12000"/>
            </a:avLst>
          </a:prstGeom>
          <a:solidFill>
            <a:srgbClr val="F3F7F9"/>
          </a:solidFill>
          <a:ln w="12700">
            <a:solidFill>
              <a:srgbClr val="D6E2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Rounded Rectangle 35"/>
          <p:cNvSpPr/>
          <p:nvPr/>
        </p:nvSpPr>
        <p:spPr>
          <a:xfrm>
            <a:off x="713160" y="4133160"/>
            <a:ext cx="72720" cy="1133640"/>
          </a:xfrm>
          <a:prstGeom prst="roundRect">
            <a:avLst>
              <a:gd name="adj" fmla="val 12000"/>
            </a:avLst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36"/>
          <p:cNvSpPr/>
          <p:nvPr/>
        </p:nvSpPr>
        <p:spPr>
          <a:xfrm>
            <a:off x="941760" y="4334400"/>
            <a:ext cx="29530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Supplier isolation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37"/>
          <p:cNvSpPr/>
          <p:nvPr/>
        </p:nvSpPr>
        <p:spPr>
          <a:xfrm>
            <a:off x="941760" y="4700160"/>
            <a:ext cx="2953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Every vector query filters by supplier ID before similarity ranking.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ounded Rectangle 38"/>
          <p:cNvSpPr/>
          <p:nvPr/>
        </p:nvSpPr>
        <p:spPr>
          <a:xfrm>
            <a:off x="4407480" y="4133160"/>
            <a:ext cx="3364560" cy="1133640"/>
          </a:xfrm>
          <a:prstGeom prst="roundRect">
            <a:avLst>
              <a:gd name="adj" fmla="val 12000"/>
            </a:avLst>
          </a:prstGeom>
          <a:solidFill>
            <a:srgbClr val="F3F7F9"/>
          </a:solidFill>
          <a:ln w="12700">
            <a:solidFill>
              <a:srgbClr val="D6E2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ounded Rectangle 39"/>
          <p:cNvSpPr/>
          <p:nvPr/>
        </p:nvSpPr>
        <p:spPr>
          <a:xfrm>
            <a:off x="4407480" y="4133160"/>
            <a:ext cx="72720" cy="1133640"/>
          </a:xfrm>
          <a:prstGeom prst="roundRect">
            <a:avLst>
              <a:gd name="adj" fmla="val 12000"/>
            </a:avLst>
          </a:prstGeom>
          <a:solidFill>
            <a:srgbClr val="169A97"/>
          </a:solidFill>
          <a:ln w="12700">
            <a:solidFill>
              <a:srgbClr val="169A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40"/>
          <p:cNvSpPr/>
          <p:nvPr/>
        </p:nvSpPr>
        <p:spPr>
          <a:xfrm>
            <a:off x="4636080" y="4334400"/>
            <a:ext cx="29530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Human-readable provenance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41"/>
          <p:cNvSpPr/>
          <p:nvPr/>
        </p:nvSpPr>
        <p:spPr>
          <a:xfrm>
            <a:off x="4636080" y="4700160"/>
            <a:ext cx="2953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Original filename, page, OCR method, confidence, review state and citation.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ounded Rectangle 42"/>
          <p:cNvSpPr/>
          <p:nvPr/>
        </p:nvSpPr>
        <p:spPr>
          <a:xfrm>
            <a:off x="8101440" y="4133160"/>
            <a:ext cx="3364560" cy="1133640"/>
          </a:xfrm>
          <a:prstGeom prst="roundRect">
            <a:avLst>
              <a:gd name="adj" fmla="val 12000"/>
            </a:avLst>
          </a:prstGeom>
          <a:solidFill>
            <a:srgbClr val="F3F7F9"/>
          </a:solidFill>
          <a:ln w="12700">
            <a:solidFill>
              <a:srgbClr val="D6E2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Rounded Rectangle 43"/>
          <p:cNvSpPr/>
          <p:nvPr/>
        </p:nvSpPr>
        <p:spPr>
          <a:xfrm>
            <a:off x="8101440" y="4133160"/>
            <a:ext cx="72720" cy="1133640"/>
          </a:xfrm>
          <a:prstGeom prst="roundRect">
            <a:avLst>
              <a:gd name="adj" fmla="val 12000"/>
            </a:avLst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Box 44"/>
          <p:cNvSpPr/>
          <p:nvPr/>
        </p:nvSpPr>
        <p:spPr>
          <a:xfrm>
            <a:off x="8330040" y="4334400"/>
            <a:ext cx="29530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Versioned 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45"/>
          <p:cNvSpPr/>
          <p:nvPr/>
        </p:nvSpPr>
        <p:spPr>
          <a:xfrm>
            <a:off x="8330040" y="4700160"/>
            <a:ext cx="2953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extraction-v4 • rag-answer-v3 • supplier-assistant-v2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46"/>
          <p:cNvSpPr/>
          <p:nvPr/>
        </p:nvSpPr>
        <p:spPr>
          <a:xfrm>
            <a:off x="1051560" y="5715000"/>
            <a:ext cx="10103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AI failure is diagnosable by document, stage, model, prompt, tokens and latency.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2"/>
          <p:cNvSpPr/>
          <p:nvPr/>
        </p:nvSpPr>
        <p:spPr>
          <a:xfrm>
            <a:off x="0" y="0"/>
            <a:ext cx="12191400" cy="127800"/>
          </a:xfrm>
          <a:prstGeom prst="rect">
            <a:avLst/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640080" y="393120"/>
            <a:ext cx="35658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CONTROLS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640080" y="694800"/>
            <a:ext cx="10881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Calculated findings remain visible; reviewers own the outcome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658440" y="1325880"/>
            <a:ext cx="10698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The policy engine separates model evidence, deterministic checks, reviewer verification, and downstream creation.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ectangle 6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7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8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Review + ERP | 8:10–10:05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9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ounded Rectangle 10"/>
          <p:cNvSpPr/>
          <p:nvPr/>
        </p:nvSpPr>
        <p:spPr>
          <a:xfrm>
            <a:off x="713160" y="1947600"/>
            <a:ext cx="3218400" cy="3382920"/>
          </a:xfrm>
          <a:prstGeom prst="roundRect">
            <a:avLst>
              <a:gd name="adj" fmla="val 12000"/>
            </a:avLst>
          </a:prstGeom>
          <a:solidFill>
            <a:srgbClr val="E8F5F8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11"/>
          <p:cNvSpPr/>
          <p:nvPr/>
        </p:nvSpPr>
        <p:spPr>
          <a:xfrm>
            <a:off x="987480" y="224928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A7F9E"/>
                </a:solidFill>
                <a:effectLst/>
                <a:uFillTx/>
                <a:latin typeface="Aptos Display"/>
              </a:rPr>
              <a:t>Policy catalogue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12"/>
          <p:cNvSpPr/>
          <p:nvPr/>
        </p:nvSpPr>
        <p:spPr>
          <a:xfrm>
            <a:off x="1005840" y="2797920"/>
            <a:ext cx="77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8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3"/>
          <p:cNvSpPr/>
          <p:nvPr/>
        </p:nvSpPr>
        <p:spPr>
          <a:xfrm>
            <a:off x="1572840" y="291708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categories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14"/>
          <p:cNvSpPr/>
          <p:nvPr/>
        </p:nvSpPr>
        <p:spPr>
          <a:xfrm>
            <a:off x="1005840" y="3447360"/>
            <a:ext cx="77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24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15"/>
          <p:cNvSpPr/>
          <p:nvPr/>
        </p:nvSpPr>
        <p:spPr>
          <a:xfrm>
            <a:off x="1755720" y="3566160"/>
            <a:ext cx="1325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subcategories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6"/>
          <p:cNvSpPr/>
          <p:nvPr/>
        </p:nvSpPr>
        <p:spPr>
          <a:xfrm>
            <a:off x="1005840" y="4096440"/>
            <a:ext cx="77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22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17"/>
          <p:cNvSpPr/>
          <p:nvPr/>
        </p:nvSpPr>
        <p:spPr>
          <a:xfrm>
            <a:off x="1755720" y="4215240"/>
            <a:ext cx="1672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reusable requirements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18"/>
          <p:cNvSpPr/>
          <p:nvPr/>
        </p:nvSpPr>
        <p:spPr>
          <a:xfrm>
            <a:off x="987480" y="4864680"/>
            <a:ext cx="2605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2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Checklist is frozen at first submission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ounded Rectangle 19"/>
          <p:cNvSpPr/>
          <p:nvPr/>
        </p:nvSpPr>
        <p:spPr>
          <a:xfrm>
            <a:off x="4316040" y="1947600"/>
            <a:ext cx="3382920" cy="338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TextBox 20"/>
          <p:cNvSpPr/>
          <p:nvPr/>
        </p:nvSpPr>
        <p:spPr>
          <a:xfrm>
            <a:off x="4590360" y="224928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7049BE"/>
                </a:solidFill>
                <a:effectLst/>
                <a:uFillTx/>
                <a:latin typeface="Aptos Display"/>
              </a:rPr>
              <a:t>Approval gate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Box 21"/>
          <p:cNvSpPr/>
          <p:nvPr/>
        </p:nvSpPr>
        <p:spPr>
          <a:xfrm>
            <a:off x="4608720" y="2797920"/>
            <a:ext cx="2788560" cy="19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required readable evidence exists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numbered policy checks verified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no disputed documents or fields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all extracted values reviewed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every compliance result = PASS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22"/>
          <p:cNvSpPr/>
          <p:nvPr/>
        </p:nvSpPr>
        <p:spPr>
          <a:xfrm>
            <a:off x="4608720" y="4883040"/>
            <a:ext cx="2697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7049BE"/>
                </a:solidFill>
                <a:effectLst/>
                <a:uFillTx/>
                <a:latin typeface="Aptos"/>
              </a:rPr>
              <a:t>Reviewer clicks Approve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ounded Rectangle 23"/>
          <p:cNvSpPr/>
          <p:nvPr/>
        </p:nvSpPr>
        <p:spPr>
          <a:xfrm>
            <a:off x="8083440" y="1947600"/>
            <a:ext cx="3382920" cy="3382920"/>
          </a:xfrm>
          <a:prstGeom prst="roundRect">
            <a:avLst>
              <a:gd name="adj" fmla="val 12000"/>
            </a:avLst>
          </a:prstGeom>
          <a:solidFill>
            <a:srgbClr val="F3F7F9"/>
          </a:solidFill>
          <a:ln w="12700">
            <a:solidFill>
              <a:srgbClr val="2D865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24"/>
          <p:cNvSpPr/>
          <p:nvPr/>
        </p:nvSpPr>
        <p:spPr>
          <a:xfrm>
            <a:off x="8357760" y="224928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D8659"/>
                </a:solidFill>
                <a:effectLst/>
                <a:uFillTx/>
                <a:latin typeface="Aptos Display"/>
              </a:rPr>
              <a:t>ERP handoff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25"/>
          <p:cNvSpPr/>
          <p:nvPr/>
        </p:nvSpPr>
        <p:spPr>
          <a:xfrm>
            <a:off x="8375760" y="2797920"/>
            <a:ext cx="2788560" cy="19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reviewed values preferred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validate required data + duplicates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case ID is idempotency key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safe retry if service is unavailable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sanitized attempt audit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26"/>
          <p:cNvSpPr/>
          <p:nvPr/>
        </p:nvSpPr>
        <p:spPr>
          <a:xfrm>
            <a:off x="8284320" y="4883040"/>
            <a:ext cx="3017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20" b="1" u="none" strike="noStrike">
                <a:solidFill>
                  <a:srgbClr val="2D8659"/>
                </a:solidFill>
                <a:effectLst/>
                <a:uFillTx/>
                <a:latin typeface="Aptos"/>
              </a:rPr>
              <a:t>APPROVED only after ERP create/replay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27"/>
          <p:cNvSpPr/>
          <p:nvPr/>
        </p:nvSpPr>
        <p:spPr>
          <a:xfrm>
            <a:off x="1828800" y="5751720"/>
            <a:ext cx="8503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AI match → NEEDS REVIEW     •     Reviewer verification → PASS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Rectangle 2"/>
          <p:cNvSpPr/>
          <p:nvPr/>
        </p:nvSpPr>
        <p:spPr>
          <a:xfrm>
            <a:off x="0" y="0"/>
            <a:ext cx="12191400" cy="127800"/>
          </a:xfrm>
          <a:prstGeom prst="rect">
            <a:avLst/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640080" y="393120"/>
            <a:ext cx="35658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LIVE DEMO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4"/>
          <p:cNvSpPr/>
          <p:nvPr/>
        </p:nvSpPr>
        <p:spPr>
          <a:xfrm>
            <a:off x="640080" y="694800"/>
            <a:ext cx="10881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Follow one case across all trust boundaries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5"/>
          <p:cNvSpPr/>
          <p:nvPr/>
        </p:nvSpPr>
        <p:spPr>
          <a:xfrm>
            <a:off x="658440" y="1325880"/>
            <a:ext cx="10698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The walkthrough proves both the happy path and the controls that prevent unsupported automation.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6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7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8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Live walkthrough | 10:05–15:40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9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07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ounded Rectangle 10"/>
          <p:cNvSpPr/>
          <p:nvPr/>
        </p:nvSpPr>
        <p:spPr>
          <a:xfrm>
            <a:off x="713160" y="1901880"/>
            <a:ext cx="5175000" cy="941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Rounded Rectangle 11"/>
          <p:cNvSpPr/>
          <p:nvPr/>
        </p:nvSpPr>
        <p:spPr>
          <a:xfrm>
            <a:off x="896040" y="2103120"/>
            <a:ext cx="511560" cy="511560"/>
          </a:xfrm>
          <a:prstGeom prst="roundRect">
            <a:avLst>
              <a:gd name="adj" fmla="val 12000"/>
            </a:avLst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Box 12"/>
          <p:cNvSpPr/>
          <p:nvPr/>
        </p:nvSpPr>
        <p:spPr>
          <a:xfrm>
            <a:off x="896040" y="2258640"/>
            <a:ext cx="511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13"/>
          <p:cNvSpPr/>
          <p:nvPr/>
        </p:nvSpPr>
        <p:spPr>
          <a:xfrm>
            <a:off x="1591200" y="206640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Supplier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Box 14"/>
          <p:cNvSpPr/>
          <p:nvPr/>
        </p:nvSpPr>
        <p:spPr>
          <a:xfrm>
            <a:off x="2651760" y="204840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Register or sign in; complete India-based details and choose a subcategory.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ounded Rectangle 15"/>
          <p:cNvSpPr/>
          <p:nvPr/>
        </p:nvSpPr>
        <p:spPr>
          <a:xfrm>
            <a:off x="6336720" y="1901880"/>
            <a:ext cx="5175000" cy="941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Rounded Rectangle 16"/>
          <p:cNvSpPr/>
          <p:nvPr/>
        </p:nvSpPr>
        <p:spPr>
          <a:xfrm>
            <a:off x="6519600" y="2103120"/>
            <a:ext cx="511560" cy="511560"/>
          </a:xfrm>
          <a:prstGeom prst="roundRect">
            <a:avLst>
              <a:gd name="adj" fmla="val 12000"/>
            </a:avLst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TextBox 17"/>
          <p:cNvSpPr/>
          <p:nvPr/>
        </p:nvSpPr>
        <p:spPr>
          <a:xfrm>
            <a:off x="6519600" y="2258640"/>
            <a:ext cx="511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18"/>
          <p:cNvSpPr/>
          <p:nvPr/>
        </p:nvSpPr>
        <p:spPr>
          <a:xfrm>
            <a:off x="7214760" y="206640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Evidence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9"/>
          <p:cNvSpPr/>
          <p:nvPr/>
        </p:nvSpPr>
        <p:spPr>
          <a:xfrm>
            <a:off x="8275320" y="204840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Show dynamic checklist; upload native and scanned evidence; open OCR provenance.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20"/>
          <p:cNvSpPr/>
          <p:nvPr/>
        </p:nvSpPr>
        <p:spPr>
          <a:xfrm>
            <a:off x="713160" y="3127320"/>
            <a:ext cx="5175000" cy="941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169A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Rounded Rectangle 21"/>
          <p:cNvSpPr/>
          <p:nvPr/>
        </p:nvSpPr>
        <p:spPr>
          <a:xfrm>
            <a:off x="896040" y="3328560"/>
            <a:ext cx="511560" cy="511560"/>
          </a:xfrm>
          <a:prstGeom prst="roundRect">
            <a:avLst>
              <a:gd name="adj" fmla="val 12000"/>
            </a:avLst>
          </a:prstGeom>
          <a:solidFill>
            <a:srgbClr val="169A97"/>
          </a:solidFill>
          <a:ln w="12700">
            <a:solidFill>
              <a:srgbClr val="169A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22"/>
          <p:cNvSpPr/>
          <p:nvPr/>
        </p:nvSpPr>
        <p:spPr>
          <a:xfrm>
            <a:off x="896040" y="3483720"/>
            <a:ext cx="511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23"/>
          <p:cNvSpPr/>
          <p:nvPr/>
        </p:nvSpPr>
        <p:spPr>
          <a:xfrm>
            <a:off x="1591200" y="329184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Submit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24"/>
          <p:cNvSpPr/>
          <p:nvPr/>
        </p:nvSpPr>
        <p:spPr>
          <a:xfrm>
            <a:off x="2651760" y="327348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Freeze the checklist and observe background extraction/index status.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ounded Rectangle 25"/>
          <p:cNvSpPr/>
          <p:nvPr/>
        </p:nvSpPr>
        <p:spPr>
          <a:xfrm>
            <a:off x="6336720" y="3127320"/>
            <a:ext cx="5175000" cy="941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2" name="Rounded Rectangle 26"/>
          <p:cNvSpPr/>
          <p:nvPr/>
        </p:nvSpPr>
        <p:spPr>
          <a:xfrm>
            <a:off x="6519600" y="3328560"/>
            <a:ext cx="511560" cy="511560"/>
          </a:xfrm>
          <a:prstGeom prst="roundRect">
            <a:avLst>
              <a:gd name="adj" fmla="val 12000"/>
            </a:avLst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Box 27"/>
          <p:cNvSpPr/>
          <p:nvPr/>
        </p:nvSpPr>
        <p:spPr>
          <a:xfrm>
            <a:off x="6519600" y="3483720"/>
            <a:ext cx="511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7214760" y="329184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Reviewer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8275320" y="327348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Open original/page, inspect mismatch, ask the case assistant, verify/correct evidence.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ounded Rectangle 30"/>
          <p:cNvSpPr/>
          <p:nvPr/>
        </p:nvSpPr>
        <p:spPr>
          <a:xfrm>
            <a:off x="713160" y="4352400"/>
            <a:ext cx="5175000" cy="941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123C6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Rounded Rectangle 31"/>
          <p:cNvSpPr/>
          <p:nvPr/>
        </p:nvSpPr>
        <p:spPr>
          <a:xfrm>
            <a:off x="896040" y="4553640"/>
            <a:ext cx="511560" cy="511560"/>
          </a:xfrm>
          <a:prstGeom prst="roundRect">
            <a:avLst>
              <a:gd name="adj" fmla="val 12000"/>
            </a:avLst>
          </a:prstGeom>
          <a:solidFill>
            <a:srgbClr val="123C69"/>
          </a:solidFill>
          <a:ln w="12700">
            <a:solidFill>
              <a:srgbClr val="123C6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8" name="TextBox 32"/>
          <p:cNvSpPr/>
          <p:nvPr/>
        </p:nvSpPr>
        <p:spPr>
          <a:xfrm>
            <a:off x="896040" y="4709160"/>
            <a:ext cx="511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33"/>
          <p:cNvSpPr/>
          <p:nvPr/>
        </p:nvSpPr>
        <p:spPr>
          <a:xfrm>
            <a:off x="1591200" y="451728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Compliance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34"/>
          <p:cNvSpPr/>
          <p:nvPr/>
        </p:nvSpPr>
        <p:spPr>
          <a:xfrm>
            <a:off x="2651760" y="449892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Run checks; show why unresolved items block approval; verify to reach all PASS.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ounded Rectangle 35"/>
          <p:cNvSpPr/>
          <p:nvPr/>
        </p:nvSpPr>
        <p:spPr>
          <a:xfrm>
            <a:off x="6336720" y="4352400"/>
            <a:ext cx="5175000" cy="941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2D865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Rounded Rectangle 36"/>
          <p:cNvSpPr/>
          <p:nvPr/>
        </p:nvSpPr>
        <p:spPr>
          <a:xfrm>
            <a:off x="6519600" y="4553640"/>
            <a:ext cx="511560" cy="511560"/>
          </a:xfrm>
          <a:prstGeom prst="roundRect">
            <a:avLst>
              <a:gd name="adj" fmla="val 12000"/>
            </a:avLst>
          </a:prstGeom>
          <a:solidFill>
            <a:srgbClr val="2D8659"/>
          </a:solidFill>
          <a:ln w="12700">
            <a:solidFill>
              <a:srgbClr val="2D865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Box 37"/>
          <p:cNvSpPr/>
          <p:nvPr/>
        </p:nvSpPr>
        <p:spPr>
          <a:xfrm>
            <a:off x="6519600" y="4709160"/>
            <a:ext cx="511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38"/>
          <p:cNvSpPr/>
          <p:nvPr/>
        </p:nvSpPr>
        <p:spPr>
          <a:xfrm>
            <a:off x="7214760" y="451728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ERP + admin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39"/>
          <p:cNvSpPr/>
          <p:nvPr/>
        </p:nvSpPr>
        <p:spPr>
          <a:xfrm>
            <a:off x="8275320" y="449892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Approve, retrieve the ERP record, then show AI/OCR/ERP observability.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ounded Rectangle 40"/>
          <p:cNvSpPr/>
          <p:nvPr/>
        </p:nvSpPr>
        <p:spPr>
          <a:xfrm>
            <a:off x="1188720" y="5669280"/>
            <a:ext cx="9829440" cy="420120"/>
          </a:xfrm>
          <a:prstGeom prst="roundRect">
            <a:avLst>
              <a:gd name="adj" fmla="val 12000"/>
            </a:avLst>
          </a:prstGeom>
          <a:solidFill>
            <a:srgbClr val="FFF5E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41"/>
          <p:cNvSpPr/>
          <p:nvPr/>
        </p:nvSpPr>
        <p:spPr>
          <a:xfrm>
            <a:off x="1325880" y="5788080"/>
            <a:ext cx="95551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20" b="1" u="none" strike="noStrike">
                <a:solidFill>
                  <a:srgbClr val="E07E27"/>
                </a:solidFill>
                <a:effectLst/>
                <a:uFillTx/>
                <a:latin typeface="Aptos"/>
              </a:rPr>
              <a:t>Fallback: use the evaluation report if an external provider is slow; never bypass the review controls.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Rectangle 2"/>
          <p:cNvSpPr/>
          <p:nvPr/>
        </p:nvSpPr>
        <p:spPr>
          <a:xfrm>
            <a:off x="0" y="0"/>
            <a:ext cx="12191400" cy="127800"/>
          </a:xfrm>
          <a:prstGeom prst="rect">
            <a:avLst/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Box 3"/>
          <p:cNvSpPr/>
          <p:nvPr/>
        </p:nvSpPr>
        <p:spPr>
          <a:xfrm>
            <a:off x="640080" y="393120"/>
            <a:ext cx="35658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EVIDENCE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4"/>
          <p:cNvSpPr/>
          <p:nvPr/>
        </p:nvSpPr>
        <p:spPr>
          <a:xfrm>
            <a:off x="640080" y="694800"/>
            <a:ext cx="10881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Measured quality plus operational visibility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5"/>
          <p:cNvSpPr/>
          <p:nvPr/>
        </p:nvSpPr>
        <p:spPr>
          <a:xfrm>
            <a:off x="658440" y="1325880"/>
            <a:ext cx="10698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The repository includes a controlled multi-supplier corpus; the admin workspace exposes current runtime evidence.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ectangle 6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Box 7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8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Quality + operations | 15:40–17:30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9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08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ounded Rectangle 10"/>
          <p:cNvSpPr/>
          <p:nvPr/>
        </p:nvSpPr>
        <p:spPr>
          <a:xfrm>
            <a:off x="640080" y="1901880"/>
            <a:ext cx="2541600" cy="1261440"/>
          </a:xfrm>
          <a:prstGeom prst="roundRect">
            <a:avLst>
              <a:gd name="adj" fmla="val 12000"/>
            </a:avLst>
          </a:prstGeom>
          <a:solidFill>
            <a:srgbClr val="F3F7F9"/>
          </a:solidFill>
          <a:ln w="12700">
            <a:solidFill>
              <a:srgbClr val="B8C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8" name="Rounded Rectangle 11"/>
          <p:cNvSpPr/>
          <p:nvPr/>
        </p:nvSpPr>
        <p:spPr>
          <a:xfrm>
            <a:off x="640080" y="1901880"/>
            <a:ext cx="72720" cy="1261440"/>
          </a:xfrm>
          <a:prstGeom prst="roundRect">
            <a:avLst>
              <a:gd name="adj" fmla="val 12000"/>
            </a:avLst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Box 12"/>
          <p:cNvSpPr/>
          <p:nvPr/>
        </p:nvSpPr>
        <p:spPr>
          <a:xfrm>
            <a:off x="850320" y="210312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36/36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13"/>
          <p:cNvSpPr/>
          <p:nvPr/>
        </p:nvSpPr>
        <p:spPr>
          <a:xfrm>
            <a:off x="850320" y="252360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field checks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14"/>
          <p:cNvSpPr/>
          <p:nvPr/>
        </p:nvSpPr>
        <p:spPr>
          <a:xfrm>
            <a:off x="850320" y="2816280"/>
            <a:ext cx="21484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1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historical v3 evaluation</a:t>
            </a:r>
            <a:endParaRPr lang="en-US" sz="9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ounded Rectangle 15"/>
          <p:cNvSpPr/>
          <p:nvPr/>
        </p:nvSpPr>
        <p:spPr>
          <a:xfrm>
            <a:off x="3502080" y="1901880"/>
            <a:ext cx="2541600" cy="1261440"/>
          </a:xfrm>
          <a:prstGeom prst="roundRect">
            <a:avLst>
              <a:gd name="adj" fmla="val 12000"/>
            </a:avLst>
          </a:prstGeom>
          <a:solidFill>
            <a:srgbClr val="F3F7F9"/>
          </a:solidFill>
          <a:ln w="12700">
            <a:solidFill>
              <a:srgbClr val="B8C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Rounded Rectangle 16"/>
          <p:cNvSpPr/>
          <p:nvPr/>
        </p:nvSpPr>
        <p:spPr>
          <a:xfrm>
            <a:off x="3502080" y="1901880"/>
            <a:ext cx="72720" cy="1261440"/>
          </a:xfrm>
          <a:prstGeom prst="roundRect">
            <a:avLst>
              <a:gd name="adj" fmla="val 12000"/>
            </a:avLst>
          </a:prstGeom>
          <a:solidFill>
            <a:srgbClr val="169A97"/>
          </a:solidFill>
          <a:ln w="12700">
            <a:solidFill>
              <a:srgbClr val="169A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TextBox 17"/>
          <p:cNvSpPr/>
          <p:nvPr/>
        </p:nvSpPr>
        <p:spPr>
          <a:xfrm>
            <a:off x="3712320" y="210312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24/24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18"/>
          <p:cNvSpPr/>
          <p:nvPr/>
        </p:nvSpPr>
        <p:spPr>
          <a:xfrm>
            <a:off x="3712320" y="252360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Q&amp;A cases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19"/>
          <p:cNvSpPr/>
          <p:nvPr/>
        </p:nvSpPr>
        <p:spPr>
          <a:xfrm>
            <a:off x="3712320" y="2816280"/>
            <a:ext cx="21484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1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answers + expected terms</a:t>
            </a:r>
            <a:endParaRPr lang="en-US" sz="9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Rounded Rectangle 20"/>
          <p:cNvSpPr/>
          <p:nvPr/>
        </p:nvSpPr>
        <p:spPr>
          <a:xfrm>
            <a:off x="6364080" y="1901880"/>
            <a:ext cx="2541600" cy="1261440"/>
          </a:xfrm>
          <a:prstGeom prst="roundRect">
            <a:avLst>
              <a:gd name="adj" fmla="val 12000"/>
            </a:avLst>
          </a:prstGeom>
          <a:solidFill>
            <a:srgbClr val="F3F7F9"/>
          </a:solidFill>
          <a:ln w="12700">
            <a:solidFill>
              <a:srgbClr val="B8C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Rounded Rectangle 21"/>
          <p:cNvSpPr/>
          <p:nvPr/>
        </p:nvSpPr>
        <p:spPr>
          <a:xfrm>
            <a:off x="6364080" y="1901880"/>
            <a:ext cx="72720" cy="1261440"/>
          </a:xfrm>
          <a:prstGeom prst="roundRect">
            <a:avLst>
              <a:gd name="adj" fmla="val 12000"/>
            </a:avLst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22"/>
          <p:cNvSpPr/>
          <p:nvPr/>
        </p:nvSpPr>
        <p:spPr>
          <a:xfrm>
            <a:off x="6574680" y="210312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100%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23"/>
          <p:cNvSpPr/>
          <p:nvPr/>
        </p:nvSpPr>
        <p:spPr>
          <a:xfrm>
            <a:off x="6574680" y="252360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citations + not-found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24"/>
          <p:cNvSpPr/>
          <p:nvPr/>
        </p:nvSpPr>
        <p:spPr>
          <a:xfrm>
            <a:off x="6574680" y="2816280"/>
            <a:ext cx="21484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1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including isolation</a:t>
            </a:r>
            <a:endParaRPr lang="en-US" sz="9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ounded Rectangle 25"/>
          <p:cNvSpPr/>
          <p:nvPr/>
        </p:nvSpPr>
        <p:spPr>
          <a:xfrm>
            <a:off x="9226440" y="1901880"/>
            <a:ext cx="2541600" cy="1261440"/>
          </a:xfrm>
          <a:prstGeom prst="roundRect">
            <a:avLst>
              <a:gd name="adj" fmla="val 12000"/>
            </a:avLst>
          </a:prstGeom>
          <a:solidFill>
            <a:srgbClr val="F3F7F9"/>
          </a:solidFill>
          <a:ln w="12700">
            <a:solidFill>
              <a:srgbClr val="B8C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Rounded Rectangle 26"/>
          <p:cNvSpPr/>
          <p:nvPr/>
        </p:nvSpPr>
        <p:spPr>
          <a:xfrm>
            <a:off x="9226440" y="1901880"/>
            <a:ext cx="72720" cy="1261440"/>
          </a:xfrm>
          <a:prstGeom prst="roundRect">
            <a:avLst>
              <a:gd name="adj" fmla="val 12000"/>
            </a:avLst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Box 27"/>
          <p:cNvSpPr/>
          <p:nvPr/>
        </p:nvSpPr>
        <p:spPr>
          <a:xfrm>
            <a:off x="9436680" y="210312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2,035 ms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28"/>
          <p:cNvSpPr/>
          <p:nvPr/>
        </p:nvSpPr>
        <p:spPr>
          <a:xfrm>
            <a:off x="9436680" y="252360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average Q&amp;A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29"/>
          <p:cNvSpPr/>
          <p:nvPr/>
        </p:nvSpPr>
        <p:spPr>
          <a:xfrm>
            <a:off x="9436680" y="2816280"/>
            <a:ext cx="21484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1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2,439 ms maximum</a:t>
            </a:r>
            <a:endParaRPr lang="en-US" sz="9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Rounded Rectangle 30"/>
          <p:cNvSpPr/>
          <p:nvPr/>
        </p:nvSpPr>
        <p:spPr>
          <a:xfrm>
            <a:off x="749880" y="3730680"/>
            <a:ext cx="3456000" cy="144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E2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Rounded Rectangle 31"/>
          <p:cNvSpPr/>
          <p:nvPr/>
        </p:nvSpPr>
        <p:spPr>
          <a:xfrm>
            <a:off x="749880" y="3730680"/>
            <a:ext cx="72720" cy="1444320"/>
          </a:xfrm>
          <a:prstGeom prst="roundRect">
            <a:avLst>
              <a:gd name="adj" fmla="val 12000"/>
            </a:avLst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Box 32"/>
          <p:cNvSpPr/>
          <p:nvPr/>
        </p:nvSpPr>
        <p:spPr>
          <a:xfrm>
            <a:off x="978480" y="3931920"/>
            <a:ext cx="3044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Admin observability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33"/>
          <p:cNvSpPr/>
          <p:nvPr/>
        </p:nvSpPr>
        <p:spPr>
          <a:xfrm>
            <a:off x="978480" y="429768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success/failure • model/prompt • tokens • avg/P95 latency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RAG grounding • OCR methods/pages • ERP attempts/latency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Rounded Rectangle 34"/>
          <p:cNvSpPr/>
          <p:nvPr/>
        </p:nvSpPr>
        <p:spPr>
          <a:xfrm>
            <a:off x="4361760" y="3730680"/>
            <a:ext cx="3456000" cy="144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E2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2" name="Rounded Rectangle 35"/>
          <p:cNvSpPr/>
          <p:nvPr/>
        </p:nvSpPr>
        <p:spPr>
          <a:xfrm>
            <a:off x="4361760" y="3730680"/>
            <a:ext cx="72720" cy="1444320"/>
          </a:xfrm>
          <a:prstGeom prst="roundRect">
            <a:avLst>
              <a:gd name="adj" fmla="val 12000"/>
            </a:avLst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Box 36"/>
          <p:cNvSpPr/>
          <p:nvPr/>
        </p:nvSpPr>
        <p:spPr>
          <a:xfrm>
            <a:off x="4590360" y="3931920"/>
            <a:ext cx="3044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Langfuse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37"/>
          <p:cNvSpPr/>
          <p:nvPr/>
        </p:nvSpPr>
        <p:spPr>
          <a:xfrm>
            <a:off x="4590360" y="429768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privacy-safe correlated traces and cost analysis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content capture disabled by default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Rounded Rectangle 38"/>
          <p:cNvSpPr/>
          <p:nvPr/>
        </p:nvSpPr>
        <p:spPr>
          <a:xfrm>
            <a:off x="7973640" y="3730680"/>
            <a:ext cx="3456000" cy="144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E2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6" name="Rounded Rectangle 39"/>
          <p:cNvSpPr/>
          <p:nvPr/>
        </p:nvSpPr>
        <p:spPr>
          <a:xfrm>
            <a:off x="7973640" y="3730680"/>
            <a:ext cx="72720" cy="1444320"/>
          </a:xfrm>
          <a:prstGeom prst="roundRect">
            <a:avLst>
              <a:gd name="adj" fmla="val 12000"/>
            </a:avLst>
          </a:prstGeom>
          <a:solidFill>
            <a:srgbClr val="E07E2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TextBox 40"/>
          <p:cNvSpPr/>
          <p:nvPr/>
        </p:nvSpPr>
        <p:spPr>
          <a:xfrm>
            <a:off x="8202240" y="3931920"/>
            <a:ext cx="3044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C2340"/>
                </a:solidFill>
                <a:effectLst/>
                <a:uFillTx/>
                <a:latin typeface="Aptos"/>
              </a:rPr>
              <a:t>Prometheus + Promptfoo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41"/>
          <p:cNvSpPr/>
          <p:nvPr/>
        </p:nvSpPr>
        <p:spPr>
          <a:xfrm>
            <a:off x="8202240" y="429768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traffic • errors • dependencies • decisions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grounding • citations • isolation • refusals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42"/>
          <p:cNvSpPr/>
          <p:nvPr/>
        </p:nvSpPr>
        <p:spPr>
          <a:xfrm>
            <a:off x="868680" y="5733360"/>
            <a:ext cx="10469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Rectangle 2"/>
          <p:cNvSpPr/>
          <p:nvPr/>
        </p:nvSpPr>
        <p:spPr>
          <a:xfrm>
            <a:off x="0" y="0"/>
            <a:ext cx="12191400" cy="127800"/>
          </a:xfrm>
          <a:prstGeom prst="rect">
            <a:avLst/>
          </a:prstGeom>
          <a:solidFill>
            <a:srgbClr val="2A7F9E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Box 3"/>
          <p:cNvSpPr/>
          <p:nvPr/>
        </p:nvSpPr>
        <p:spPr>
          <a:xfrm>
            <a:off x="640080" y="393120"/>
            <a:ext cx="35658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SECURITY + READINESS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4"/>
          <p:cNvSpPr/>
          <p:nvPr/>
        </p:nvSpPr>
        <p:spPr>
          <a:xfrm>
            <a:off x="640080" y="694800"/>
            <a:ext cx="10881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C2340"/>
                </a:solidFill>
                <a:effectLst/>
                <a:uFillTx/>
                <a:latin typeface="Aptos Display"/>
              </a:rPr>
              <a:t>Strong prototype controls; explicit production prerequisites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5"/>
          <p:cNvSpPr/>
          <p:nvPr/>
        </p:nvSpPr>
        <p:spPr>
          <a:xfrm>
            <a:off x="658440" y="1325880"/>
            <a:ext cx="10698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26874"/>
                </a:solidFill>
                <a:effectLst/>
                <a:uFillTx/>
                <a:latin typeface="Aptos"/>
              </a:rPr>
              <a:t>The demo makes privacy and accountability visible while remaining honest about operational hardening.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Rectangle 6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6" name="TextBox 7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8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Readiness | 17:30–19:10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9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09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Rounded Rectangle 10"/>
          <p:cNvSpPr/>
          <p:nvPr/>
        </p:nvSpPr>
        <p:spPr>
          <a:xfrm>
            <a:off x="713160" y="1920240"/>
            <a:ext cx="5211720" cy="3794400"/>
          </a:xfrm>
          <a:prstGeom prst="roundRect">
            <a:avLst>
              <a:gd name="adj" fmla="val 12000"/>
            </a:avLst>
          </a:prstGeom>
          <a:solidFill>
            <a:srgbClr val="E8F5F8"/>
          </a:solidFill>
          <a:ln w="1270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TextBox 11"/>
          <p:cNvSpPr/>
          <p:nvPr/>
        </p:nvSpPr>
        <p:spPr>
          <a:xfrm>
            <a:off x="1005840" y="2221920"/>
            <a:ext cx="24685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A7F9E"/>
                </a:solidFill>
                <a:effectLst/>
                <a:uFillTx/>
                <a:latin typeface="Aptos Display"/>
              </a:rPr>
              <a:t>Implemented now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12"/>
          <p:cNvSpPr/>
          <p:nvPr/>
        </p:nvSpPr>
        <p:spPr>
          <a:xfrm>
            <a:off x="1005840" y="2779920"/>
            <a:ext cx="4498560" cy="23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role-enforced API routes; scrypt supplier passwords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hashed, expiring bearer sessions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UUID paths, MIME/size limits and SHA-256 verification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PII redaction before external AI calls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supplier-filtered retrieval and privacy-safe telemetry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human decision, immutable revision metadata and audit trail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Rounded Rectangle 13"/>
          <p:cNvSpPr/>
          <p:nvPr/>
        </p:nvSpPr>
        <p:spPr>
          <a:xfrm>
            <a:off x="6254640" y="1920240"/>
            <a:ext cx="5211720" cy="3794400"/>
          </a:xfrm>
          <a:prstGeom prst="roundRect">
            <a:avLst>
              <a:gd name="adj" fmla="val 12000"/>
            </a:avLst>
          </a:prstGeom>
          <a:solidFill>
            <a:srgbClr val="FFF5E7"/>
          </a:solidFill>
          <a:ln w="1270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14"/>
          <p:cNvSpPr/>
          <p:nvPr/>
        </p:nvSpPr>
        <p:spPr>
          <a:xfrm>
            <a:off x="6546960" y="2221920"/>
            <a:ext cx="26514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E07E27"/>
                </a:solidFill>
                <a:effectLst/>
                <a:uFillTx/>
                <a:latin typeface="Aptos Display"/>
              </a:rPr>
              <a:t>Before production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15"/>
          <p:cNvSpPr/>
          <p:nvPr/>
        </p:nvSpPr>
        <p:spPr>
          <a:xfrm>
            <a:off x="6546960" y="2779920"/>
            <a:ext cx="4498560" cy="23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SSO/MFA, secure HttpOnly sessions and enterprise RBAC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TLS, secrets manager and private docs/metrics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encrypted object storage, malware/DLP and retention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durable worker queue, retries and managed persistence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policy governance, privacy impact and provider agreements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220" b="0" u="none" strike="noStrike">
                <a:solidFill>
                  <a:srgbClr val="172033"/>
                </a:solidFill>
                <a:effectLst/>
                <a:uFillTx/>
                <a:latin typeface="Aptos"/>
              </a:rPr>
              <a:t>•  browser E2E, load, accessibility, security and DR tests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16"/>
          <p:cNvSpPr/>
          <p:nvPr/>
        </p:nvSpPr>
        <p:spPr>
          <a:xfrm>
            <a:off x="914400" y="6007680"/>
            <a:ext cx="10378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BE3E3E"/>
                </a:solidFill>
                <a:effectLst/>
                <a:uFillTx/>
                <a:latin typeface="Aptos"/>
              </a:rPr>
              <a:t>Current deployment profile: local development and capstone demonstration—not a production procurement service.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Rectangle 2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7049BE"/>
          </a:solidFill>
          <a:ln w="1270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TextBox 3"/>
          <p:cNvSpPr/>
          <p:nvPr/>
        </p:nvSpPr>
        <p:spPr>
          <a:xfrm>
            <a:off x="749880" y="786240"/>
            <a:ext cx="34743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BFDDEA"/>
                </a:solidFill>
                <a:effectLst/>
                <a:uFillTx/>
                <a:latin typeface="Aptos Display"/>
              </a:rPr>
              <a:t>VendorLens AI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4"/>
          <p:cNvSpPr/>
          <p:nvPr/>
        </p:nvSpPr>
        <p:spPr>
          <a:xfrm>
            <a:off x="749880" y="1554480"/>
            <a:ext cx="708624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Evidence in.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Accountable decision out.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Rounded Rectangle 5"/>
          <p:cNvSpPr/>
          <p:nvPr/>
        </p:nvSpPr>
        <p:spPr>
          <a:xfrm>
            <a:off x="786240" y="3840480"/>
            <a:ext cx="3181680" cy="1023840"/>
          </a:xfrm>
          <a:prstGeom prst="roundRect">
            <a:avLst>
              <a:gd name="adj" fmla="val 12000"/>
            </a:avLst>
          </a:prstGeom>
          <a:solidFill>
            <a:srgbClr val="14375A"/>
          </a:solidFill>
          <a:ln w="19050">
            <a:solidFill>
              <a:srgbClr val="2A7F9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TextBox 6"/>
          <p:cNvSpPr/>
          <p:nvPr/>
        </p:nvSpPr>
        <p:spPr>
          <a:xfrm>
            <a:off x="951120" y="408744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A7F9E"/>
                </a:solidFill>
                <a:effectLst/>
                <a:uFillTx/>
                <a:latin typeface="Aptos"/>
              </a:rPr>
              <a:t>TRACEABLE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7"/>
          <p:cNvSpPr/>
          <p:nvPr/>
        </p:nvSpPr>
        <p:spPr>
          <a:xfrm>
            <a:off x="951120" y="4416480"/>
            <a:ext cx="2834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70" b="0" u="none" strike="noStrike">
                <a:solidFill>
                  <a:srgbClr val="D2E6F1"/>
                </a:solidFill>
                <a:effectLst/>
                <a:uFillTx/>
                <a:latin typeface="Aptos"/>
              </a:rPr>
              <a:t>page sources • citations • revisions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Rounded Rectangle 8"/>
          <p:cNvSpPr/>
          <p:nvPr/>
        </p:nvSpPr>
        <p:spPr>
          <a:xfrm>
            <a:off x="4407480" y="3840480"/>
            <a:ext cx="3181680" cy="1023840"/>
          </a:xfrm>
          <a:prstGeom prst="roundRect">
            <a:avLst>
              <a:gd name="adj" fmla="val 12000"/>
            </a:avLst>
          </a:prstGeom>
          <a:solidFill>
            <a:srgbClr val="14375A"/>
          </a:solidFill>
          <a:ln w="19050">
            <a:solidFill>
              <a:srgbClr val="7049B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4" name="TextBox 9"/>
          <p:cNvSpPr/>
          <p:nvPr/>
        </p:nvSpPr>
        <p:spPr>
          <a:xfrm>
            <a:off x="4572000" y="408744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7049BE"/>
                </a:solidFill>
                <a:effectLst/>
                <a:uFillTx/>
                <a:latin typeface="Aptos"/>
              </a:rPr>
              <a:t>CONTROLLED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10"/>
          <p:cNvSpPr/>
          <p:nvPr/>
        </p:nvSpPr>
        <p:spPr>
          <a:xfrm>
            <a:off x="4572000" y="4416480"/>
            <a:ext cx="2834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70" b="0" u="none" strike="noStrike">
                <a:solidFill>
                  <a:srgbClr val="D2E6F1"/>
                </a:solidFill>
                <a:effectLst/>
                <a:uFillTx/>
                <a:latin typeface="Aptos"/>
              </a:rPr>
              <a:t>policy gates • human approval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Rounded Rectangle 11"/>
          <p:cNvSpPr/>
          <p:nvPr/>
        </p:nvSpPr>
        <p:spPr>
          <a:xfrm>
            <a:off x="8028360" y="3840480"/>
            <a:ext cx="3181680" cy="1023840"/>
          </a:xfrm>
          <a:prstGeom prst="roundRect">
            <a:avLst>
              <a:gd name="adj" fmla="val 12000"/>
            </a:avLst>
          </a:prstGeom>
          <a:solidFill>
            <a:srgbClr val="14375A"/>
          </a:solidFill>
          <a:ln w="19050">
            <a:solidFill>
              <a:srgbClr val="E07E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TextBox 12"/>
          <p:cNvSpPr/>
          <p:nvPr/>
        </p:nvSpPr>
        <p:spPr>
          <a:xfrm>
            <a:off x="8192880" y="408744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7E27"/>
                </a:solidFill>
                <a:effectLst/>
                <a:uFillTx/>
                <a:latin typeface="Aptos"/>
              </a:rPr>
              <a:t>OPERABLE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13"/>
          <p:cNvSpPr/>
          <p:nvPr/>
        </p:nvSpPr>
        <p:spPr>
          <a:xfrm>
            <a:off x="8192880" y="4416480"/>
            <a:ext cx="2834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70" b="0" u="none" strike="noStrike">
                <a:solidFill>
                  <a:srgbClr val="D2E6F1"/>
                </a:solidFill>
                <a:effectLst/>
                <a:uFillTx/>
                <a:latin typeface="Aptos"/>
              </a:rPr>
              <a:t>metrics • traces • safe retries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Box 14"/>
          <p:cNvSpPr/>
          <p:nvPr/>
        </p:nvSpPr>
        <p:spPr>
          <a:xfrm>
            <a:off x="749880" y="555048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Q&amp;A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Rectangle 15"/>
          <p:cNvSpPr/>
          <p:nvPr/>
        </p:nvSpPr>
        <p:spPr>
          <a:xfrm>
            <a:off x="0" y="6492240"/>
            <a:ext cx="12191400" cy="36540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TextBox 16"/>
          <p:cNvSpPr/>
          <p:nvPr/>
        </p:nvSpPr>
        <p:spPr>
          <a:xfrm>
            <a:off x="594360" y="6565320"/>
            <a:ext cx="2011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VendorLens AI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Box 17"/>
          <p:cNvSpPr/>
          <p:nvPr/>
        </p:nvSpPr>
        <p:spPr>
          <a:xfrm>
            <a:off x="4023360" y="6565320"/>
            <a:ext cx="41144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C7DCE8"/>
                </a:solidFill>
                <a:effectLst/>
                <a:uFillTx/>
                <a:latin typeface="Aptos"/>
              </a:rPr>
              <a:t>Questions + discussion | 19:10–20:00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18"/>
          <p:cNvSpPr/>
          <p:nvPr/>
        </p:nvSpPr>
        <p:spPr>
          <a:xfrm>
            <a:off x="11018520" y="6565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18360" rIns="3672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FCFE2"/>
                </a:solidFill>
                <a:effectLst/>
                <a:uFillTx/>
                <a:latin typeface="Apto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VendorLens AI</dc:creator>
  <dc:description>Updated for the September 2026 as-built project baseline.</dc:description>
  <dc:language>en-US</dc:language>
  <cp:lastModifiedBy/>
  <dcterms:modified xsi:type="dcterms:W3CDTF">2026-09-28T06:02:04Z</dcterms:modified>
  <cp:revision>2</cp:revision>
  <dc:subject>As-built supplier onboarding, document AI, policy review, ERP integration, and observability</dc:subject>
  <dc:title>VendorLens AI - 20 Minute Demo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